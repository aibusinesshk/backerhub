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AF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7481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8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8.png"/><Relationship Id="rId10" Type="http://schemas.openxmlformats.org/officeDocument/2006/relationships/image" Target="../media/image29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24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8.png"/><Relationship Id="rId10" Type="http://schemas.openxmlformats.org/officeDocument/2006/relationships/image" Target="../media/image42.png"/><Relationship Id="rId4" Type="http://schemas.openxmlformats.org/officeDocument/2006/relationships/image" Target="../media/image37.png"/><Relationship Id="rId9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24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8.png"/><Relationship Id="rId10" Type="http://schemas.openxmlformats.org/officeDocument/2006/relationships/image" Target="../media/image55.png"/><Relationship Id="rId4" Type="http://schemas.openxmlformats.org/officeDocument/2006/relationships/image" Target="../media/image37.png"/><Relationship Id="rId9" Type="http://schemas.openxmlformats.org/officeDocument/2006/relationships/image" Target="../media/image5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2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8.png"/><Relationship Id="rId10" Type="http://schemas.openxmlformats.org/officeDocument/2006/relationships/image" Target="../media/image62.png"/><Relationship Id="rId4" Type="http://schemas.openxmlformats.org/officeDocument/2006/relationships/image" Target="../media/image57.png"/><Relationship Id="rId9" Type="http://schemas.openxmlformats.org/officeDocument/2006/relationships/image" Target="../media/image6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3" Type="http://schemas.openxmlformats.org/officeDocument/2006/relationships/image" Target="../media/image63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8.png"/><Relationship Id="rId10" Type="http://schemas.openxmlformats.org/officeDocument/2006/relationships/image" Target="../media/image68.png"/><Relationship Id="rId4" Type="http://schemas.openxmlformats.org/officeDocument/2006/relationships/image" Target="../media/image2.png"/><Relationship Id="rId9" Type="http://schemas.openxmlformats.org/officeDocument/2006/relationships/image" Target="../media/image6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33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8.png"/><Relationship Id="rId9" Type="http://schemas.openxmlformats.org/officeDocument/2006/relationships/image" Target="../media/image7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24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8.png"/><Relationship Id="rId10" Type="http://schemas.openxmlformats.org/officeDocument/2006/relationships/image" Target="../media/image82.png"/><Relationship Id="rId4" Type="http://schemas.openxmlformats.org/officeDocument/2006/relationships/image" Target="../media/image77.png"/><Relationship Id="rId9" Type="http://schemas.openxmlformats.org/officeDocument/2006/relationships/image" Target="../media/image8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18" Type="http://schemas.openxmlformats.org/officeDocument/2006/relationships/image" Target="../media/image97.png"/><Relationship Id="rId3" Type="http://schemas.openxmlformats.org/officeDocument/2006/relationships/image" Target="../media/image44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17" Type="http://schemas.openxmlformats.org/officeDocument/2006/relationships/image" Target="../media/image96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.png"/><Relationship Id="rId15" Type="http://schemas.openxmlformats.org/officeDocument/2006/relationships/image" Target="../media/image94.png"/><Relationship Id="rId10" Type="http://schemas.openxmlformats.org/officeDocument/2006/relationships/image" Target="../media/image89.png"/><Relationship Id="rId19" Type="http://schemas.openxmlformats.org/officeDocument/2006/relationships/image" Target="../media/image98.png"/><Relationship Id="rId4" Type="http://schemas.openxmlformats.org/officeDocument/2006/relationships/image" Target="../media/image84.png"/><Relationship Id="rId9" Type="http://schemas.openxmlformats.org/officeDocument/2006/relationships/image" Target="../media/image88.png"/><Relationship Id="rId14" Type="http://schemas.openxmlformats.org/officeDocument/2006/relationships/image" Target="../media/image9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107.png"/><Relationship Id="rId3" Type="http://schemas.openxmlformats.org/officeDocument/2006/relationships/image" Target="../media/image24.png"/><Relationship Id="rId7" Type="http://schemas.openxmlformats.org/officeDocument/2006/relationships/image" Target="../media/image101.png"/><Relationship Id="rId12" Type="http://schemas.openxmlformats.org/officeDocument/2006/relationships/image" Target="../media/image106.png"/><Relationship Id="rId17" Type="http://schemas.openxmlformats.org/officeDocument/2006/relationships/image" Target="../media/image111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11" Type="http://schemas.openxmlformats.org/officeDocument/2006/relationships/image" Target="../media/image105.png"/><Relationship Id="rId5" Type="http://schemas.openxmlformats.org/officeDocument/2006/relationships/image" Target="../media/image99.png"/><Relationship Id="rId15" Type="http://schemas.openxmlformats.org/officeDocument/2006/relationships/image" Target="../media/image109.png"/><Relationship Id="rId10" Type="http://schemas.openxmlformats.org/officeDocument/2006/relationships/image" Target="../media/image104.png"/><Relationship Id="rId4" Type="http://schemas.openxmlformats.org/officeDocument/2006/relationships/image" Target="../media/image8.png"/><Relationship Id="rId9" Type="http://schemas.openxmlformats.org/officeDocument/2006/relationships/image" Target="../media/image103.png"/><Relationship Id="rId14" Type="http://schemas.openxmlformats.org/officeDocument/2006/relationships/image" Target="../media/image10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image" Target="../media/image112.png"/><Relationship Id="rId7" Type="http://schemas.openxmlformats.org/officeDocument/2006/relationships/image" Target="../media/image1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.png"/><Relationship Id="rId5" Type="http://schemas.openxmlformats.org/officeDocument/2006/relationships/image" Target="../media/image8.png"/><Relationship Id="rId4" Type="http://schemas.openxmlformats.org/officeDocument/2006/relationships/image" Target="../media/image11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34195" y="-952805"/>
            <a:ext cx="3810305" cy="38103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1429207" y="3524098"/>
            <a:ext cx="4762195" cy="476219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l="-1" r="-1"/>
          <a:stretch/>
        </p:blipFill>
        <p:spPr>
          <a:xfrm>
            <a:off x="6803642" y="1344900"/>
            <a:ext cx="4277563" cy="36576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803642" y="4269151"/>
            <a:ext cx="4277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kern="0" spc="38" dirty="0">
                <a:solidFill>
                  <a:srgbClr val="D1D5D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Asia’s First Poker Backing Platform</a:t>
            </a:r>
            <a:endParaRPr lang="en-US" sz="1500" dirty="0"/>
          </a:p>
        </p:txBody>
      </p:sp>
      <p:sp>
        <p:nvSpPr>
          <p:cNvPr id="8" name="Text 3"/>
          <p:cNvSpPr txBox="1"/>
          <p:nvPr/>
        </p:nvSpPr>
        <p:spPr>
          <a:xfrm>
            <a:off x="6628992" y="2039844"/>
            <a:ext cx="46259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kern="0" spc="-112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 Players.</a:t>
            </a:r>
            <a:endParaRPr lang="en-US" sz="4500" dirty="0"/>
          </a:p>
        </p:txBody>
      </p:sp>
      <p:sp>
        <p:nvSpPr>
          <p:cNvPr id="9" name="Text 4"/>
          <p:cNvSpPr txBox="1"/>
          <p:nvPr/>
        </p:nvSpPr>
        <p:spPr>
          <a:xfrm>
            <a:off x="6118756" y="2688154"/>
            <a:ext cx="564550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kern="0" spc="-112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Share Victories.</a:t>
            </a:r>
            <a:endParaRPr lang="en-US" sz="4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t="-420" b="-420"/>
          <a:stretch/>
        </p:blipFill>
        <p:spPr>
          <a:xfrm>
            <a:off x="8559290" y="3792749"/>
            <a:ext cx="761695" cy="19202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8107207" y="374136"/>
            <a:ext cx="166586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9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Backer</a:t>
            </a:r>
            <a:r>
              <a:rPr lang="en-US" sz="2600" b="1" kern="0" spc="90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Hub</a:t>
            </a:r>
            <a:endParaRPr lang="en-US" sz="1800" dirty="0"/>
          </a:p>
        </p:txBody>
      </p:sp>
      <p:sp>
        <p:nvSpPr>
          <p:cNvPr id="12" name="Shape 6"/>
          <p:cNvSpPr/>
          <p:nvPr/>
        </p:nvSpPr>
        <p:spPr>
          <a:xfrm>
            <a:off x="0" y="6070702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476402" y="6270955"/>
            <a:ext cx="17007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Investor Presentation</a:t>
            </a:r>
            <a:endParaRPr lang="en-US" sz="1000" dirty="0"/>
          </a:p>
        </p:txBody>
      </p:sp>
      <p:sp>
        <p:nvSpPr>
          <p:cNvPr id="14" name="Text 8"/>
          <p:cNvSpPr txBox="1"/>
          <p:nvPr/>
        </p:nvSpPr>
        <p:spPr>
          <a:xfrm>
            <a:off x="10932566" y="6270955"/>
            <a:ext cx="86685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March 2026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>
            <a:alphaModFix amt="70000"/>
          </a:blip>
          <a:srcRect l="63" r="63"/>
          <a:stretch/>
        </p:blipFill>
        <p:spPr>
          <a:xfrm>
            <a:off x="1728343" y="3302492"/>
            <a:ext cx="3962981" cy="2999013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>
            <a:alphaModFix amt="70000"/>
          </a:blip>
          <a:srcRect/>
          <a:stretch/>
        </p:blipFill>
        <p:spPr>
          <a:xfrm>
            <a:off x="327326" y="252463"/>
            <a:ext cx="4277563" cy="3019172"/>
          </a:xfrm>
          <a:prstGeom prst="rect">
            <a:avLst/>
          </a:prstGeom>
        </p:spPr>
      </p:pic>
      <p:sp>
        <p:nvSpPr>
          <p:cNvPr id="17" name="Text 5">
            <a:extLst>
              <a:ext uri="{FF2B5EF4-FFF2-40B4-BE49-F238E27FC236}">
                <a16:creationId xmlns:a16="http://schemas.microsoft.com/office/drawing/2014/main" id="{C9D45DF2-96E0-7721-53AB-5C100FE81506}"/>
              </a:ext>
            </a:extLst>
          </p:cNvPr>
          <p:cNvSpPr txBox="1"/>
          <p:nvPr/>
        </p:nvSpPr>
        <p:spPr>
          <a:xfrm>
            <a:off x="7291299" y="5391514"/>
            <a:ext cx="3297676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90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</a:rPr>
              <a:t>Investor Presentation</a:t>
            </a:r>
            <a:endParaRPr lang="en-US" sz="1800" dirty="0">
              <a:solidFill>
                <a:srgbClr val="D4AF3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58707" y="-1429207"/>
            <a:ext cx="4762195" cy="476219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1429207" y="4476902"/>
            <a:ext cx="3810305" cy="381030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718950" y="6344107"/>
            <a:ext cx="171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2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761695" y="480646"/>
            <a:ext cx="107826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62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761695" y="781484"/>
            <a:ext cx="108585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72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Poker Staking is Broken</a:t>
            </a:r>
            <a:endParaRPr lang="en-US" sz="3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385" r="-385"/>
          <a:stretch/>
        </p:blipFill>
        <p:spPr>
          <a:xfrm>
            <a:off x="761695" y="1521233"/>
            <a:ext cx="761695" cy="2834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61695" y="1726680"/>
            <a:ext cx="5191049" cy="2229307"/>
          </a:xfrm>
          <a:prstGeom prst="roundRect">
            <a:avLst>
              <a:gd name="adj" fmla="val 280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761695" y="1726680"/>
            <a:ext cx="28346" cy="2229307"/>
          </a:xfrm>
          <a:prstGeom prst="roundRect">
            <a:avLst>
              <a:gd name="adj" fmla="val 220571"/>
            </a:avLst>
          </a:prstGeom>
          <a:solidFill>
            <a:srgbClr val="D4AF37">
              <a:alpha val="30000"/>
            </a:srgbClr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333" b="-333"/>
          <a:stretch/>
        </p:blipFill>
        <p:spPr>
          <a:xfrm>
            <a:off x="1076249" y="2074152"/>
            <a:ext cx="342900" cy="276149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076249" y="2593531"/>
            <a:ext cx="469635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7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Fragmented &amp; Informal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1076249" y="3008669"/>
            <a:ext cx="4657954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Most staking deals happen on forums, WhatsApp groups, and handshake agreements. No escrow, no verification, no recourse when things go wrong.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6238951" y="1726680"/>
            <a:ext cx="5191049" cy="2229307"/>
          </a:xfrm>
          <a:prstGeom prst="roundRect">
            <a:avLst>
              <a:gd name="adj" fmla="val 280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6238951" y="1726680"/>
            <a:ext cx="28346" cy="2229307"/>
          </a:xfrm>
          <a:prstGeom prst="roundRect">
            <a:avLst>
              <a:gd name="adj" fmla="val 220571"/>
            </a:avLst>
          </a:prstGeom>
          <a:solidFill>
            <a:srgbClr val="D4AF37">
              <a:alpha val="30000"/>
            </a:srgbClr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53505" y="2074152"/>
            <a:ext cx="276149" cy="276149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553505" y="2593531"/>
            <a:ext cx="469635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7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Western-Centric Platforms</a:t>
            </a:r>
            <a:endParaRPr lang="en-US" sz="1600" dirty="0"/>
          </a:p>
        </p:txBody>
      </p:sp>
      <p:sp>
        <p:nvSpPr>
          <p:cNvPr id="19" name="Text 12"/>
          <p:cNvSpPr txBox="1"/>
          <p:nvPr/>
        </p:nvSpPr>
        <p:spPr>
          <a:xfrm>
            <a:off x="6553505" y="3008669"/>
            <a:ext cx="4657954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Incumbents like StakeKings and PokerStake serve US/EU markets. They lack local Asian payment methods, Chinese language support, and regional focus.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761695" y="4236708"/>
            <a:ext cx="5191049" cy="2229307"/>
          </a:xfrm>
          <a:prstGeom prst="roundRect">
            <a:avLst>
              <a:gd name="adj" fmla="val 280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761695" y="4236708"/>
            <a:ext cx="28346" cy="2229307"/>
          </a:xfrm>
          <a:prstGeom prst="roundRect">
            <a:avLst>
              <a:gd name="adj" fmla="val 220571"/>
            </a:avLst>
          </a:prstGeom>
          <a:solidFill>
            <a:srgbClr val="D4AF37">
              <a:alpha val="30000"/>
            </a:srgbClr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76249" y="4584180"/>
            <a:ext cx="276149" cy="276149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076249" y="5103559"/>
            <a:ext cx="469635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7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Zero Trust Infrastructure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1076249" y="5518697"/>
            <a:ext cx="4657954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identity verification, no official result validation, and no reliability scoring. Players can disappear with backers' money without consequence.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6238951" y="4236708"/>
            <a:ext cx="5191049" cy="2229307"/>
          </a:xfrm>
          <a:prstGeom prst="roundRect">
            <a:avLst>
              <a:gd name="adj" fmla="val 280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6238951" y="4236708"/>
            <a:ext cx="28346" cy="2229307"/>
          </a:xfrm>
          <a:prstGeom prst="roundRect">
            <a:avLst>
              <a:gd name="adj" fmla="val 220571"/>
            </a:avLst>
          </a:prstGeom>
          <a:solidFill>
            <a:srgbClr val="D4AF37">
              <a:alpha val="30000"/>
            </a:srgbClr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rcRect l="-552" r="-552"/>
          <a:stretch/>
        </p:blipFill>
        <p:spPr>
          <a:xfrm>
            <a:off x="6553505" y="4584180"/>
            <a:ext cx="209398" cy="276149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553505" y="5103559"/>
            <a:ext cx="469635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17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Opaque Fee Structures</a:t>
            </a:r>
            <a:endParaRPr lang="en-US" sz="1600" dirty="0"/>
          </a:p>
        </p:txBody>
      </p:sp>
      <p:sp>
        <p:nvSpPr>
          <p:cNvPr id="29" name="Text 20"/>
          <p:cNvSpPr txBox="1"/>
          <p:nvPr/>
        </p:nvSpPr>
        <p:spPr>
          <a:xfrm>
            <a:off x="6553505" y="5518697"/>
            <a:ext cx="4657954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Hidden commissions ranging from 1-10%. No transparent cost breakdowns means backers often don't know the true price they are paying for action.</a:t>
            </a:r>
            <a:endParaRPr lang="en-US" sz="1100" dirty="0"/>
          </a:p>
        </p:txBody>
      </p:sp>
      <p:sp>
        <p:nvSpPr>
          <p:cNvPr id="30" name="Text 21"/>
          <p:cNvSpPr txBox="1"/>
          <p:nvPr/>
        </p:nvSpPr>
        <p:spPr>
          <a:xfrm>
            <a:off x="8642909" y="286207"/>
            <a:ext cx="31747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96" dirty="0">
                <a:solidFill>
                  <a:srgbClr val="FFFFFF">
                    <a:alpha val="2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BackerHub Investor Presentation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29500" y="-952805"/>
            <a:ext cx="5715000" cy="5715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952805" y="3047695"/>
            <a:ext cx="4762195" cy="476219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718950" y="6344107"/>
            <a:ext cx="171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2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761695" y="476402"/>
            <a:ext cx="107826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62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761695" y="758038"/>
            <a:ext cx="108585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BackerHub: Trust-First Player Backing</a:t>
            </a:r>
            <a:endParaRPr lang="en-US" sz="3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385" r="-385"/>
          <a:stretch/>
        </p:blipFill>
        <p:spPr>
          <a:xfrm>
            <a:off x="761695" y="1370686"/>
            <a:ext cx="761695" cy="2834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61695" y="1732788"/>
            <a:ext cx="5238598" cy="1399946"/>
          </a:xfrm>
          <a:prstGeom prst="roundRect">
            <a:avLst>
              <a:gd name="adj" fmla="val 1066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1009498" y="1932127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D4AF37">
              <a:alpha val="10000"/>
            </a:srgbClr>
          </a:solidFill>
          <a:ln w="12700">
            <a:solidFill>
              <a:srgbClr val="D4AF37">
                <a:alpha val="20000"/>
              </a:srgbClr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l="-1903" r="-1903"/>
          <a:stretch/>
        </p:blipFill>
        <p:spPr>
          <a:xfrm>
            <a:off x="1152144" y="2065630"/>
            <a:ext cx="190195" cy="20939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676095" y="1932127"/>
            <a:ext cx="4191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Escrow-Protected Funds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1676095" y="2306117"/>
            <a:ext cx="415320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Backer money is never sent directly to players. Funds are held in secure escrow until specific, admin-verified milestones are met.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6191402" y="1732788"/>
            <a:ext cx="5238598" cy="1399946"/>
          </a:xfrm>
          <a:prstGeom prst="roundRect">
            <a:avLst>
              <a:gd name="adj" fmla="val 1066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6439205" y="1932127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D4AF37">
              <a:alpha val="10000"/>
            </a:srgbClr>
          </a:solidFill>
          <a:ln w="12700">
            <a:solidFill>
              <a:srgbClr val="D4AF37">
                <a:alpha val="20000"/>
              </a:srgbClr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l="-1004" r="-1004"/>
          <a:stretch/>
        </p:blipFill>
        <p:spPr>
          <a:xfrm>
            <a:off x="6543446" y="2065630"/>
            <a:ext cx="267005" cy="20939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105802" y="1932127"/>
            <a:ext cx="4191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Identity Verified Players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7105802" y="2306117"/>
            <a:ext cx="415320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All players must pass KYC checks. Performance is tracked with transparency, including reliability scores and settlement history.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761695" y="3313786"/>
            <a:ext cx="5238598" cy="1399946"/>
          </a:xfrm>
          <a:prstGeom prst="roundRect">
            <a:avLst>
              <a:gd name="adj" fmla="val 1066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1009498" y="3514039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D4AF37">
              <a:alpha val="10000"/>
            </a:srgbClr>
          </a:solidFill>
          <a:ln w="12700">
            <a:solidFill>
              <a:srgbClr val="D4AF37">
                <a:alpha val="20000"/>
              </a:srgbClr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143000" y="3647542"/>
            <a:ext cx="209398" cy="20939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676095" y="3514039"/>
            <a:ext cx="4191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Multi-Step Verification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1676095" y="3887114"/>
            <a:ext cx="415320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rigorous 3-step process: Registration proof, official result validation, and prize deposit confirmation — all admin-verified.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6191402" y="3313786"/>
            <a:ext cx="5238598" cy="1399946"/>
          </a:xfrm>
          <a:prstGeom prst="roundRect">
            <a:avLst>
              <a:gd name="adj" fmla="val 1066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6439205" y="3514039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D4AF37">
              <a:alpha val="10000"/>
            </a:srgbClr>
          </a:solidFill>
          <a:ln w="12700">
            <a:solidFill>
              <a:srgbClr val="D4AF37">
                <a:alpha val="20000"/>
              </a:srgbClr>
            </a:solidFill>
            <a:prstDash val="solid"/>
          </a:ln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572707" y="3647542"/>
            <a:ext cx="209398" cy="209398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105802" y="3514039"/>
            <a:ext cx="4191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for Asia</a:t>
            </a:r>
            <a:endParaRPr lang="en-US" sz="1500" dirty="0"/>
          </a:p>
        </p:txBody>
      </p:sp>
      <p:sp>
        <p:nvSpPr>
          <p:cNvPr id="29" name="Text 20"/>
          <p:cNvSpPr txBox="1"/>
          <p:nvPr/>
        </p:nvSpPr>
        <p:spPr>
          <a:xfrm>
            <a:off x="7105802" y="3887114"/>
            <a:ext cx="41532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Full support for English &amp; Traditional Chinese. Tailored for local tournaments with regional payment integration.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761695" y="4943246"/>
            <a:ext cx="106683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761695" y="5143500"/>
            <a:ext cx="107826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6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Integrated Local Payment Rails</a:t>
            </a:r>
            <a:endParaRPr lang="en-US" sz="9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>
            <a:alphaModFix amt="70000"/>
          </a:blip>
          <a:srcRect l="-461" r="-461"/>
          <a:stretch/>
        </p:blipFill>
        <p:spPr>
          <a:xfrm>
            <a:off x="761695" y="5490058"/>
            <a:ext cx="237744" cy="209398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076249" y="5469026"/>
            <a:ext cx="5815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CCCCC">
                    <a:alpha val="7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ECPay</a:t>
            </a:r>
            <a:endParaRPr lang="en-US" sz="1300" dirty="0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11">
            <a:alphaModFix amt="70000"/>
          </a:blip>
          <a:srcRect/>
          <a:stretch/>
        </p:blipFill>
        <p:spPr>
          <a:xfrm>
            <a:off x="1954987" y="5490058"/>
            <a:ext cx="209398" cy="209398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2241194" y="5469026"/>
            <a:ext cx="81655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C755">
                    <a:alpha val="7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LINE Pay</a:t>
            </a:r>
            <a:endParaRPr lang="en-US" sz="130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12">
            <a:alphaModFix amt="70000"/>
          </a:blip>
          <a:srcRect/>
          <a:stretch/>
        </p:blipFill>
        <p:spPr>
          <a:xfrm>
            <a:off x="3300984" y="5490058"/>
            <a:ext cx="209398" cy="209398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3587191" y="5469026"/>
            <a:ext cx="6858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9241D">
                    <a:alpha val="7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JKoPay</a:t>
            </a:r>
            <a:endParaRPr lang="en-US" sz="1300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13">
            <a:alphaModFix amt="70000"/>
          </a:blip>
          <a:srcRect l="-1903" r="-1903"/>
          <a:stretch/>
        </p:blipFill>
        <p:spPr>
          <a:xfrm>
            <a:off x="4570171" y="5490058"/>
            <a:ext cx="190195" cy="209398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4837176" y="5469026"/>
            <a:ext cx="85039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77FF">
                    <a:alpha val="7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AlipayHK</a:t>
            </a:r>
            <a:endParaRPr lang="en-US" sz="1300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14">
            <a:alphaModFix amt="70000"/>
          </a:blip>
          <a:srcRect l="-1004" r="-1004"/>
          <a:stretch/>
        </p:blipFill>
        <p:spPr>
          <a:xfrm>
            <a:off x="5930798" y="5490058"/>
            <a:ext cx="267005" cy="209398"/>
          </a:xfrm>
          <a:prstGeom prst="rect">
            <a:avLst/>
          </a:prstGeom>
        </p:spPr>
      </p:pic>
      <p:sp>
        <p:nvSpPr>
          <p:cNvPr id="41" name="Text 27"/>
          <p:cNvSpPr txBox="1"/>
          <p:nvPr/>
        </p:nvSpPr>
        <p:spPr>
          <a:xfrm>
            <a:off x="6273698" y="5469026"/>
            <a:ext cx="3721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A86B">
                    <a:alpha val="7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FPS</a:t>
            </a:r>
            <a:endParaRPr lang="en-US" sz="1300" dirty="0"/>
          </a:p>
        </p:txBody>
      </p:sp>
      <p:sp>
        <p:nvSpPr>
          <p:cNvPr id="42" name="Text 28"/>
          <p:cNvSpPr txBox="1"/>
          <p:nvPr/>
        </p:nvSpPr>
        <p:spPr>
          <a:xfrm>
            <a:off x="8262518" y="476402"/>
            <a:ext cx="31747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96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BackerHub Investor Presentation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952805" y="-952805"/>
            <a:ext cx="4762195" cy="476219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905902" y="2572207"/>
            <a:ext cx="5715000" cy="57150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715293" y="6344107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2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761695" y="476402"/>
            <a:ext cx="84015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62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761695" y="758038"/>
            <a:ext cx="8921801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$11.4B Market with No Asia Leader</a:t>
            </a:r>
            <a:endParaRPr lang="en-US" sz="3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385" r="-385"/>
          <a:stretch/>
        </p:blipFill>
        <p:spPr>
          <a:xfrm>
            <a:off x="761695" y="1370686"/>
            <a:ext cx="761695" cy="2834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824728" y="2439619"/>
            <a:ext cx="560984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24728" y="2057400"/>
            <a:ext cx="228600" cy="2286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6195974" y="2000707"/>
            <a:ext cx="2868473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Market Indicators</a:t>
            </a:r>
            <a:endParaRPr lang="en-US" sz="18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5824728" y="2638958"/>
            <a:ext cx="2683764" cy="161848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6034126" y="3198571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13.7%</a:t>
            </a:r>
            <a:endParaRPr lang="en-US" sz="2400" dirty="0"/>
          </a:p>
        </p:txBody>
      </p:sp>
      <p:sp>
        <p:nvSpPr>
          <p:cNvPr id="15" name="Text 8"/>
          <p:cNvSpPr txBox="1"/>
          <p:nvPr/>
        </p:nvSpPr>
        <p:spPr>
          <a:xfrm>
            <a:off x="6034126" y="3703320"/>
            <a:ext cx="23628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Online Poker CAGR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 2030</a:t>
            </a:r>
            <a:endParaRPr lang="en-US" sz="10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8746236" y="2638958"/>
            <a:ext cx="2683764" cy="1618488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8955634" y="3198571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$481M</a:t>
            </a:r>
            <a:endParaRPr lang="en-US" sz="2400" dirty="0"/>
          </a:p>
        </p:txBody>
      </p:sp>
      <p:sp>
        <p:nvSpPr>
          <p:cNvPr id="18" name="Text 10"/>
          <p:cNvSpPr txBox="1"/>
          <p:nvPr/>
        </p:nvSpPr>
        <p:spPr>
          <a:xfrm>
            <a:off x="8955634" y="3703320"/>
            <a:ext cx="23628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WSOP 2025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Prize Money</a:t>
            </a:r>
            <a:endParaRPr lang="en-US" sz="10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5824728" y="4495190"/>
            <a:ext cx="2683764" cy="1618488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6034126" y="5054803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$34M+</a:t>
            </a:r>
            <a:endParaRPr lang="en-US" sz="2400" dirty="0"/>
          </a:p>
        </p:txBody>
      </p:sp>
      <p:sp>
        <p:nvSpPr>
          <p:cNvPr id="21" name="Text 12"/>
          <p:cNvSpPr txBox="1"/>
          <p:nvPr/>
        </p:nvSpPr>
        <p:spPr>
          <a:xfrm>
            <a:off x="6034126" y="5560466"/>
            <a:ext cx="23628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APT Taipei Nov 2025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Total Prizes</a:t>
            </a:r>
            <a:endParaRPr lang="en-US" sz="10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8746236" y="4495190"/>
            <a:ext cx="2683764" cy="1618488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8955634" y="5054803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28,000+</a:t>
            </a:r>
            <a:endParaRPr lang="en-US" sz="2400" dirty="0"/>
          </a:p>
        </p:txBody>
      </p:sp>
      <p:sp>
        <p:nvSpPr>
          <p:cNvPr id="24" name="Text 14"/>
          <p:cNvSpPr txBox="1"/>
          <p:nvPr/>
        </p:nvSpPr>
        <p:spPr>
          <a:xfrm>
            <a:off x="8955634" y="5560466"/>
            <a:ext cx="23628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APT Championship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Player Entries</a:t>
            </a:r>
            <a:endParaRPr lang="en-US" sz="1000" dirty="0"/>
          </a:p>
        </p:txBody>
      </p:sp>
      <p:sp>
        <p:nvSpPr>
          <p:cNvPr id="25" name="Shape 15"/>
          <p:cNvSpPr/>
          <p:nvPr/>
        </p:nvSpPr>
        <p:spPr>
          <a:xfrm>
            <a:off x="761695" y="1761134"/>
            <a:ext cx="4591202" cy="1285646"/>
          </a:xfrm>
          <a:prstGeom prst="roundRect">
            <a:avLst>
              <a:gd name="adj" fmla="val 1264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6" name="Text 16"/>
          <p:cNvSpPr txBox="1"/>
          <p:nvPr/>
        </p:nvSpPr>
        <p:spPr>
          <a:xfrm>
            <a:off x="1009498" y="1961388"/>
            <a:ext cx="42108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2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TAM</a:t>
            </a:r>
            <a:r>
              <a:rPr lang="en-US" sz="1000" kern="0" spc="102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Total Addressable Market</a:t>
            </a:r>
            <a:endParaRPr lang="en-US" sz="1000" dirty="0"/>
          </a:p>
        </p:txBody>
      </p:sp>
      <p:sp>
        <p:nvSpPr>
          <p:cNvPr id="27" name="Text 17"/>
          <p:cNvSpPr txBox="1"/>
          <p:nvPr/>
        </p:nvSpPr>
        <p:spPr>
          <a:xfrm>
            <a:off x="1009498" y="2203704"/>
            <a:ext cx="42867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$11.4B</a:t>
            </a:r>
            <a:endParaRPr lang="en-US" sz="3000" dirty="0"/>
          </a:p>
        </p:txBody>
      </p:sp>
      <p:sp>
        <p:nvSpPr>
          <p:cNvPr id="28" name="Text 18"/>
          <p:cNvSpPr txBox="1"/>
          <p:nvPr/>
        </p:nvSpPr>
        <p:spPr>
          <a:xfrm>
            <a:off x="1009498" y="2631643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Global Online Poker Market by 2030</a:t>
            </a:r>
            <a:endParaRPr lang="en-US" sz="10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8"/>
          <a:srcRect l="-481" r="-481"/>
          <a:stretch/>
        </p:blipFill>
        <p:spPr>
          <a:xfrm>
            <a:off x="3045866" y="3132734"/>
            <a:ext cx="19202" cy="190195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761695" y="3418942"/>
            <a:ext cx="4591202" cy="1285646"/>
          </a:xfrm>
          <a:prstGeom prst="roundRect">
            <a:avLst>
              <a:gd name="adj" fmla="val 1264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1" name="Text 20"/>
          <p:cNvSpPr txBox="1"/>
          <p:nvPr/>
        </p:nvSpPr>
        <p:spPr>
          <a:xfrm>
            <a:off x="1009498" y="3619195"/>
            <a:ext cx="42108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2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SAM</a:t>
            </a:r>
            <a:r>
              <a:rPr lang="en-US" sz="1000" kern="0" spc="102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Serviceable Addressable Market</a:t>
            </a:r>
            <a:endParaRPr lang="en-US" sz="1000" dirty="0"/>
          </a:p>
        </p:txBody>
      </p:sp>
      <p:sp>
        <p:nvSpPr>
          <p:cNvPr id="32" name="Text 21"/>
          <p:cNvSpPr txBox="1"/>
          <p:nvPr/>
        </p:nvSpPr>
        <p:spPr>
          <a:xfrm>
            <a:off x="1009498" y="3860597"/>
            <a:ext cx="42867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$2.3B</a:t>
            </a:r>
            <a:endParaRPr lang="en-US" sz="3000" dirty="0"/>
          </a:p>
        </p:txBody>
      </p:sp>
      <p:sp>
        <p:nvSpPr>
          <p:cNvPr id="33" name="Text 22"/>
          <p:cNvSpPr txBox="1"/>
          <p:nvPr/>
        </p:nvSpPr>
        <p:spPr>
          <a:xfrm>
            <a:off x="1009498" y="4289450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Asia-Pacific Poker Tournament Economy</a:t>
            </a:r>
            <a:endParaRPr lang="en-US" sz="1000" dirty="0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8"/>
          <a:srcRect l="-481" r="-481"/>
          <a:stretch/>
        </p:blipFill>
        <p:spPr>
          <a:xfrm>
            <a:off x="3045866" y="4790542"/>
            <a:ext cx="19202" cy="190195"/>
          </a:xfrm>
          <a:prstGeom prst="rect">
            <a:avLst/>
          </a:prstGeom>
        </p:spPr>
      </p:pic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9"/>
          <a:srcRect l="-4" r="-4"/>
          <a:stretch/>
        </p:blipFill>
        <p:spPr>
          <a:xfrm>
            <a:off x="761695" y="5076749"/>
            <a:ext cx="4586630" cy="1276502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1009498" y="5276088"/>
            <a:ext cx="42108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2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SOM</a:t>
            </a:r>
            <a:r>
              <a:rPr lang="en-US" sz="1000" kern="0" spc="102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Serviceable Obtainable Market</a:t>
            </a:r>
            <a:endParaRPr lang="en-US" sz="1000" dirty="0"/>
          </a:p>
        </p:txBody>
      </p:sp>
      <p:sp>
        <p:nvSpPr>
          <p:cNvPr id="37" name="Text 24"/>
          <p:cNvSpPr txBox="1"/>
          <p:nvPr/>
        </p:nvSpPr>
        <p:spPr>
          <a:xfrm>
            <a:off x="1009498" y="5518404"/>
            <a:ext cx="42867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$115M</a:t>
            </a:r>
            <a:endParaRPr lang="en-US" sz="3000" dirty="0"/>
          </a:p>
        </p:txBody>
      </p:sp>
      <p:sp>
        <p:nvSpPr>
          <p:cNvPr id="38" name="Text 25"/>
          <p:cNvSpPr txBox="1"/>
          <p:nvPr/>
        </p:nvSpPr>
        <p:spPr>
          <a:xfrm>
            <a:off x="1009498" y="5947258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Addressable Staking Market (Asia, Year 5)</a:t>
            </a:r>
            <a:endParaRPr lang="en-US" sz="10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0">
            <a:alphaModFix amt="80000"/>
          </a:blip>
          <a:srcRect l="-1403" r="-1403"/>
          <a:stretch/>
        </p:blipFill>
        <p:spPr>
          <a:xfrm>
            <a:off x="6034126" y="2862072"/>
            <a:ext cx="209398" cy="181051"/>
          </a:xfrm>
          <a:prstGeom prst="rect">
            <a:avLst/>
          </a:prstGeom>
        </p:spPr>
      </p:pic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11">
            <a:alphaModFix amt="80000"/>
          </a:blip>
          <a:srcRect l="-1403" r="-1403"/>
          <a:stretch/>
        </p:blipFill>
        <p:spPr>
          <a:xfrm>
            <a:off x="8955634" y="2862072"/>
            <a:ext cx="209398" cy="181051"/>
          </a:xfrm>
          <a:prstGeom prst="rect">
            <a:avLst/>
          </a:prstGeom>
        </p:spPr>
      </p:pic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12">
            <a:alphaModFix amt="80000"/>
          </a:blip>
          <a:srcRect l="-1403" r="-1403"/>
          <a:stretch/>
        </p:blipFill>
        <p:spPr>
          <a:xfrm>
            <a:off x="6034126" y="4718304"/>
            <a:ext cx="209398" cy="181051"/>
          </a:xfrm>
          <a:prstGeom prst="rect">
            <a:avLst/>
          </a:prstGeom>
        </p:spPr>
      </p:pic>
      <p:pic>
        <p:nvPicPr>
          <p:cNvPr id="42" name="Image 14" descr="preencoded.png"/>
          <p:cNvPicPr>
            <a:picLocks noChangeAspect="1"/>
          </p:cNvPicPr>
          <p:nvPr/>
        </p:nvPicPr>
        <p:blipFill>
          <a:blip r:embed="rId13">
            <a:alphaModFix amt="80000"/>
          </a:blip>
          <a:srcRect l="-505" r="-505"/>
          <a:stretch/>
        </p:blipFill>
        <p:spPr>
          <a:xfrm>
            <a:off x="8955634" y="4718304"/>
            <a:ext cx="228600" cy="181051"/>
          </a:xfrm>
          <a:prstGeom prst="rect">
            <a:avLst/>
          </a:prstGeom>
        </p:spPr>
      </p:pic>
      <p:sp>
        <p:nvSpPr>
          <p:cNvPr id="43" name="Text 26"/>
          <p:cNvSpPr txBox="1"/>
          <p:nvPr/>
        </p:nvSpPr>
        <p:spPr>
          <a:xfrm>
            <a:off x="8262518" y="476402"/>
            <a:ext cx="31747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96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BackerHub Investor Presentation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2286000" y="-1143000"/>
            <a:ext cx="7619695" cy="28575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905902" y="3524098"/>
            <a:ext cx="4762195" cy="476219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642909" y="381305"/>
            <a:ext cx="31747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96" dirty="0">
                <a:solidFill>
                  <a:srgbClr val="FFFFFF">
                    <a:alpha val="2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BackerHub Investor Presentation 2026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719865" y="6344107"/>
            <a:ext cx="171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2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761695" y="476402"/>
            <a:ext cx="107826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62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Now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761695" y="758038"/>
            <a:ext cx="108585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0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Tailwinds Converge</a:t>
            </a:r>
            <a:endParaRPr lang="en-US" sz="3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l="-385" r="-385"/>
          <a:stretch/>
        </p:blipFill>
        <p:spPr>
          <a:xfrm>
            <a:off x="761695" y="1370686"/>
            <a:ext cx="761695" cy="2834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61695" y="1780337"/>
            <a:ext cx="3372307" cy="4610405"/>
          </a:xfrm>
          <a:prstGeom prst="roundRect">
            <a:avLst>
              <a:gd name="adj" fmla="val 183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761695" y="1755301"/>
            <a:ext cx="2677363" cy="28346"/>
          </a:xfrm>
          <a:prstGeom prst="roundRect">
            <a:avLst>
              <a:gd name="adj" fmla="val 3225852"/>
            </a:avLst>
          </a:prstGeom>
          <a:solidFill>
            <a:srgbClr val="D4AF37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009498" y="2075688"/>
            <a:ext cx="476402" cy="476402"/>
          </a:xfrm>
          <a:prstGeom prst="ellipse">
            <a:avLst/>
          </a:prstGeom>
          <a:solidFill>
            <a:srgbClr val="D4AF37">
              <a:alpha val="10000"/>
            </a:srgbClr>
          </a:solidFill>
          <a:ln w="12700">
            <a:solidFill>
              <a:srgbClr val="D4AF37">
                <a:alpha val="30000"/>
              </a:srgbClr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l="-505" r="-505"/>
          <a:stretch/>
        </p:blipFill>
        <p:spPr>
          <a:xfrm>
            <a:off x="1133856" y="2222906"/>
            <a:ext cx="228600" cy="181051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628546" y="2185416"/>
            <a:ext cx="14849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34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Legal Clarity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1009498" y="2742286"/>
            <a:ext cx="2876702" cy="752551"/>
          </a:xfrm>
          <a:prstGeom prst="roundRect">
            <a:avLst>
              <a:gd name="adj" fmla="val 24609"/>
            </a:avLst>
          </a:prstGeom>
          <a:solidFill>
            <a:srgbClr val="D4AF37">
              <a:alpha val="5000"/>
            </a:srgbClr>
          </a:solidFill>
          <a:ln w="12700">
            <a:solidFill>
              <a:srgbClr val="D4AF37">
                <a:alpha val="15000"/>
              </a:srgbClr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1162202" y="2894990"/>
            <a:ext cx="26755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Milestone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1162202" y="3123590"/>
            <a:ext cx="26755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Supreme Court (Feb 2025)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1009498" y="3684118"/>
            <a:ext cx="2953512" cy="1752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Taiwan confirmed poker tournaments as a "mind sport" — definitively distinguishing it from gambling, paving the way for regulated growth.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1009498" y="5571439"/>
            <a:ext cx="28767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1199693" y="5723230"/>
            <a:ext cx="276331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CTP Club is now the #1 venue globally with 302,505 registered players.</a:t>
            </a:r>
            <a:endParaRPr lang="en-US" sz="10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 l="-1677" r="-1677"/>
          <a:stretch/>
        </p:blipFill>
        <p:spPr>
          <a:xfrm>
            <a:off x="1009498" y="5723230"/>
            <a:ext cx="95098" cy="105156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4412894" y="1780337"/>
            <a:ext cx="3372307" cy="4610405"/>
          </a:xfrm>
          <a:prstGeom prst="roundRect">
            <a:avLst>
              <a:gd name="adj" fmla="val 183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412894" y="1755301"/>
            <a:ext cx="2677363" cy="28346"/>
          </a:xfrm>
          <a:prstGeom prst="roundRect">
            <a:avLst>
              <a:gd name="adj" fmla="val 3225852"/>
            </a:avLst>
          </a:prstGeom>
          <a:solidFill>
            <a:srgbClr val="D4AF37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660697" y="2075688"/>
            <a:ext cx="476402" cy="476402"/>
          </a:xfrm>
          <a:prstGeom prst="ellipse">
            <a:avLst/>
          </a:prstGeom>
          <a:solidFill>
            <a:srgbClr val="D4AF37">
              <a:alpha val="10000"/>
            </a:srgbClr>
          </a:solidFill>
          <a:ln w="12700">
            <a:solidFill>
              <a:srgbClr val="D4AF37">
                <a:alpha val="30000"/>
              </a:srgbClr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rcRect l="-1403" r="-1403"/>
          <a:stretch/>
        </p:blipFill>
        <p:spPr>
          <a:xfrm>
            <a:off x="4794199" y="2222906"/>
            <a:ext cx="209398" cy="18105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279746" y="2185416"/>
            <a:ext cx="199796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34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Tournament Boom</a:t>
            </a:r>
            <a:endParaRPr lang="en-US" sz="1600" dirty="0"/>
          </a:p>
        </p:txBody>
      </p:sp>
      <p:sp>
        <p:nvSpPr>
          <p:cNvPr id="28" name="Shape 20"/>
          <p:cNvSpPr/>
          <p:nvPr/>
        </p:nvSpPr>
        <p:spPr>
          <a:xfrm>
            <a:off x="4660697" y="2742286"/>
            <a:ext cx="2876702" cy="752551"/>
          </a:xfrm>
          <a:prstGeom prst="roundRect">
            <a:avLst>
              <a:gd name="adj" fmla="val 24609"/>
            </a:avLst>
          </a:prstGeom>
          <a:solidFill>
            <a:srgbClr val="D4AF37">
              <a:alpha val="5000"/>
            </a:srgbClr>
          </a:solidFill>
          <a:ln w="12700">
            <a:solidFill>
              <a:srgbClr val="D4AF37">
                <a:alpha val="15000"/>
              </a:srgbClr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4813402" y="2894990"/>
            <a:ext cx="26755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Taipei 2025 Prizes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4813402" y="3123590"/>
            <a:ext cx="26755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$54M+ Total Prizes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4660697" y="3684118"/>
            <a:ext cx="2953512" cy="1677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Asian poker is exploding with 40%+ YoY growth in entries and prize pools, attracting global attention.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4660697" y="5494630"/>
            <a:ext cx="28767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4850892" y="5647334"/>
            <a:ext cx="29553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APT Taipei: 22,909 entries, $20M prizes</a:t>
            </a:r>
            <a:endParaRPr lang="en-US" sz="10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7"/>
          <a:srcRect l="-1677" r="-1677"/>
          <a:stretch/>
        </p:blipFill>
        <p:spPr>
          <a:xfrm>
            <a:off x="4660697" y="5647334"/>
            <a:ext cx="95098" cy="105156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4850892" y="5905195"/>
            <a:ext cx="30330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APT Champ: 28,000+ entries, $34M+ prizes</a:t>
            </a:r>
            <a:endParaRPr lang="en-US" sz="100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7"/>
          <a:srcRect l="-1677" r="-1677"/>
          <a:stretch/>
        </p:blipFill>
        <p:spPr>
          <a:xfrm>
            <a:off x="4660697" y="5905195"/>
            <a:ext cx="95098" cy="105156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8064094" y="1780337"/>
            <a:ext cx="3372307" cy="4610405"/>
          </a:xfrm>
          <a:prstGeom prst="roundRect">
            <a:avLst>
              <a:gd name="adj" fmla="val 183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8064094" y="1755301"/>
            <a:ext cx="2677363" cy="28346"/>
          </a:xfrm>
          <a:prstGeom prst="roundRect">
            <a:avLst>
              <a:gd name="adj" fmla="val 3225852"/>
            </a:avLst>
          </a:prstGeom>
          <a:solidFill>
            <a:srgbClr val="D4AF37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8311896" y="2075688"/>
            <a:ext cx="476402" cy="476402"/>
          </a:xfrm>
          <a:prstGeom prst="ellipse">
            <a:avLst/>
          </a:prstGeom>
          <a:solidFill>
            <a:srgbClr val="D4AF37">
              <a:alpha val="10000"/>
            </a:srgbClr>
          </a:solidFill>
          <a:ln w="12700">
            <a:solidFill>
              <a:srgbClr val="D4AF37">
                <a:alpha val="30000"/>
              </a:srgbClr>
            </a:solidFill>
            <a:prstDash val="solid"/>
          </a:ln>
        </p:spPr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9"/>
          <a:srcRect t="-856" b="-856"/>
          <a:stretch/>
        </p:blipFill>
        <p:spPr>
          <a:xfrm>
            <a:off x="8483803" y="2222906"/>
            <a:ext cx="133502" cy="181051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8930945" y="2185416"/>
            <a:ext cx="225582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34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Payment Explosion</a:t>
            </a:r>
            <a:endParaRPr lang="en-US" sz="1600" dirty="0"/>
          </a:p>
        </p:txBody>
      </p:sp>
      <p:sp>
        <p:nvSpPr>
          <p:cNvPr id="42" name="Shape 31"/>
          <p:cNvSpPr/>
          <p:nvPr/>
        </p:nvSpPr>
        <p:spPr>
          <a:xfrm>
            <a:off x="8311896" y="2742286"/>
            <a:ext cx="2876702" cy="752551"/>
          </a:xfrm>
          <a:prstGeom prst="roundRect">
            <a:avLst>
              <a:gd name="adj" fmla="val 24609"/>
            </a:avLst>
          </a:prstGeom>
          <a:solidFill>
            <a:srgbClr val="D4AF37">
              <a:alpha val="5000"/>
            </a:srgbClr>
          </a:solidFill>
          <a:ln w="12700">
            <a:solidFill>
              <a:srgbClr val="D4AF37">
                <a:alpha val="15000"/>
              </a:srgbClr>
            </a:solidFill>
            <a:prstDash val="solid"/>
          </a:ln>
        </p:spPr>
      </p:sp>
      <p:sp>
        <p:nvSpPr>
          <p:cNvPr id="43" name="Text 32"/>
          <p:cNvSpPr txBox="1"/>
          <p:nvPr/>
        </p:nvSpPr>
        <p:spPr>
          <a:xfrm>
            <a:off x="8464601" y="2894990"/>
            <a:ext cx="267553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Fintech Market 2025</a:t>
            </a:r>
            <a:endParaRPr lang="en-US" sz="900" dirty="0"/>
          </a:p>
        </p:txBody>
      </p:sp>
      <p:sp>
        <p:nvSpPr>
          <p:cNvPr id="44" name="Text 33"/>
          <p:cNvSpPr txBox="1"/>
          <p:nvPr/>
        </p:nvSpPr>
        <p:spPr>
          <a:xfrm>
            <a:off x="8464601" y="3123590"/>
            <a:ext cx="26755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$112.5B Market</a:t>
            </a:r>
            <a:endParaRPr lang="en-US" sz="1300" dirty="0"/>
          </a:p>
        </p:txBody>
      </p:sp>
      <p:sp>
        <p:nvSpPr>
          <p:cNvPr id="45" name="Text 34"/>
          <p:cNvSpPr txBox="1"/>
          <p:nvPr/>
        </p:nvSpPr>
        <p:spPr>
          <a:xfrm>
            <a:off x="8311896" y="3684118"/>
            <a:ext cx="2953512" cy="1677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Massive adoption of digital wallets with 80%+ mobile penetration across the region simplifies cross-border staking.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311896" y="5494630"/>
            <a:ext cx="28767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36"/>
          <p:cNvSpPr txBox="1"/>
          <p:nvPr/>
        </p:nvSpPr>
        <p:spPr>
          <a:xfrm>
            <a:off x="8502091" y="5647334"/>
            <a:ext cx="28008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LINE Pay: 13.1M users, $25B volume</a:t>
            </a:r>
            <a:endParaRPr lang="en-US" sz="1000" dirty="0"/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7"/>
          <a:srcRect l="-1677" r="-1677"/>
          <a:stretch/>
        </p:blipFill>
        <p:spPr>
          <a:xfrm>
            <a:off x="8311896" y="5647334"/>
            <a:ext cx="95098" cy="105156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8502091" y="5905195"/>
            <a:ext cx="28008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Gov target: 8B non-cash tx by 2026</a:t>
            </a:r>
            <a:endParaRPr lang="en-US" sz="1000" dirty="0"/>
          </a:p>
        </p:txBody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7"/>
          <a:srcRect l="-1677" r="-1677"/>
          <a:stretch/>
        </p:blipFill>
        <p:spPr>
          <a:xfrm>
            <a:off x="8311896" y="5905195"/>
            <a:ext cx="95098" cy="1051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82305" y="571500"/>
            <a:ext cx="5715000" cy="5715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1429207" y="3524098"/>
            <a:ext cx="4762195" cy="476219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642909" y="381305"/>
            <a:ext cx="31747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96" dirty="0">
                <a:solidFill>
                  <a:srgbClr val="FFFFFF">
                    <a:alpha val="2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BackerHub Investor Presentation 2026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718036" y="6344107"/>
            <a:ext cx="171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2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761695" y="476402"/>
            <a:ext cx="107826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62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761695" y="758038"/>
            <a:ext cx="108585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67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Steps to Start Backing</a:t>
            </a:r>
            <a:endParaRPr lang="en-US" sz="3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l="-385" r="-385"/>
          <a:stretch/>
        </p:blipFill>
        <p:spPr>
          <a:xfrm>
            <a:off x="761695" y="1370686"/>
            <a:ext cx="761695" cy="2834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61695" y="1732788"/>
            <a:ext cx="10668305" cy="1248156"/>
          </a:xfrm>
          <a:prstGeom prst="roundRect">
            <a:avLst>
              <a:gd name="adj" fmla="val 1789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1429207" y="1732788"/>
            <a:ext cx="19202" cy="228600"/>
          </a:xfrm>
          <a:prstGeom prst="rect">
            <a:avLst/>
          </a:prstGeom>
          <a:solidFill>
            <a:srgbClr val="D4AF37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1171346" y="1955902"/>
            <a:ext cx="67848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210" dirty="0">
                <a:ln w="9525">
                  <a:solidFill>
                    <a:srgbClr val="D4AF37"/>
                  </a:solidFill>
                </a:ln>
                <a:solidFill>
                  <a:srgbClr val="000000">
                    <a:alpha val="8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4200" dirty="0"/>
          </a:p>
        </p:txBody>
      </p:sp>
      <p:sp>
        <p:nvSpPr>
          <p:cNvPr id="14" name="Shape 9"/>
          <p:cNvSpPr/>
          <p:nvPr/>
        </p:nvSpPr>
        <p:spPr>
          <a:xfrm>
            <a:off x="2009851" y="1932127"/>
            <a:ext cx="9144" cy="847649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2400300" y="1932127"/>
            <a:ext cx="56107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-38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Browse Players</a:t>
            </a:r>
            <a:endParaRPr lang="en-US" sz="1900" dirty="0"/>
          </a:p>
        </p:txBody>
      </p:sp>
      <p:sp>
        <p:nvSpPr>
          <p:cNvPr id="16" name="Text 11"/>
          <p:cNvSpPr txBox="1"/>
          <p:nvPr/>
        </p:nvSpPr>
        <p:spPr>
          <a:xfrm>
            <a:off x="2400300" y="2346350"/>
            <a:ext cx="55723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Explore verified poker players with detailed performance stats, ROI history, and reliability scores.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277149" y="1943100"/>
            <a:ext cx="2857500" cy="371246"/>
          </a:xfrm>
          <a:prstGeom prst="roundRect">
            <a:avLst>
              <a:gd name="adj" fmla="val 101048"/>
            </a:avLst>
          </a:prstGeom>
          <a:solidFill>
            <a:srgbClr val="D4AF37">
              <a:alpha val="8000"/>
            </a:srgbClr>
          </a:solidFill>
          <a:ln w="12700">
            <a:solidFill>
              <a:srgbClr val="D4AF37">
                <a:alpha val="15000"/>
              </a:srgbClr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l="-837" r="-837"/>
          <a:stretch/>
        </p:blipFill>
        <p:spPr>
          <a:xfrm>
            <a:off x="8429854" y="2059229"/>
            <a:ext cx="152705" cy="13350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677656" y="1943100"/>
            <a:ext cx="12573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Verified Stats &amp; ROI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8277149" y="2403958"/>
            <a:ext cx="2857500" cy="371246"/>
          </a:xfrm>
          <a:prstGeom prst="roundRect">
            <a:avLst>
              <a:gd name="adj" fmla="val 101048"/>
            </a:avLst>
          </a:prstGeom>
          <a:solidFill>
            <a:srgbClr val="D4AF37">
              <a:alpha val="8000"/>
            </a:srgbClr>
          </a:solidFill>
          <a:ln w="12700">
            <a:solidFill>
              <a:srgbClr val="D4AF37">
                <a:alpha val="15000"/>
              </a:srgbClr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29854" y="2520086"/>
            <a:ext cx="133502" cy="13350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658454" y="2403958"/>
            <a:ext cx="10195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Filter by Buy-in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761695" y="3433572"/>
            <a:ext cx="10668305" cy="1248156"/>
          </a:xfrm>
          <a:prstGeom prst="roundRect">
            <a:avLst>
              <a:gd name="adj" fmla="val 1789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1429207" y="3433572"/>
            <a:ext cx="19202" cy="228600"/>
          </a:xfrm>
          <a:prstGeom prst="rect">
            <a:avLst/>
          </a:prstGeom>
          <a:solidFill>
            <a:srgbClr val="D4AF37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1133856" y="3656686"/>
            <a:ext cx="6858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210" dirty="0">
                <a:ln w="9525">
                  <a:solidFill>
                    <a:srgbClr val="D4AF37"/>
                  </a:solidFill>
                </a:ln>
                <a:solidFill>
                  <a:srgbClr val="000000">
                    <a:alpha val="8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4200" dirty="0"/>
          </a:p>
        </p:txBody>
      </p:sp>
      <p:sp>
        <p:nvSpPr>
          <p:cNvPr id="26" name="Shape 19"/>
          <p:cNvSpPr/>
          <p:nvPr/>
        </p:nvSpPr>
        <p:spPr>
          <a:xfrm>
            <a:off x="2009851" y="3632911"/>
            <a:ext cx="9144" cy="847649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2400300" y="3632911"/>
            <a:ext cx="56107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-38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 a Player</a:t>
            </a:r>
            <a:endParaRPr lang="en-US" sz="1900" dirty="0"/>
          </a:p>
        </p:txBody>
      </p:sp>
      <p:sp>
        <p:nvSpPr>
          <p:cNvPr id="28" name="Text 21"/>
          <p:cNvSpPr txBox="1"/>
          <p:nvPr/>
        </p:nvSpPr>
        <p:spPr>
          <a:xfrm>
            <a:off x="2400300" y="4046220"/>
            <a:ext cx="55723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Purchase a percentage of a player's tournament action. Transparent cost breakdowns with funds held in escrow.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277149" y="3643884"/>
            <a:ext cx="2857500" cy="371246"/>
          </a:xfrm>
          <a:prstGeom prst="roundRect">
            <a:avLst>
              <a:gd name="adj" fmla="val 101048"/>
            </a:avLst>
          </a:prstGeom>
          <a:solidFill>
            <a:srgbClr val="D4AF37">
              <a:alpha val="8000"/>
            </a:srgbClr>
          </a:solidFill>
          <a:ln w="12700">
            <a:solidFill>
              <a:srgbClr val="D4AF37">
                <a:alpha val="15000"/>
              </a:srgbClr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29854" y="3760013"/>
            <a:ext cx="133502" cy="13350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658454" y="3643884"/>
            <a:ext cx="11430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Transparent Fees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8277149" y="4104742"/>
            <a:ext cx="2857500" cy="371246"/>
          </a:xfrm>
          <a:prstGeom prst="roundRect">
            <a:avLst>
              <a:gd name="adj" fmla="val 101048"/>
            </a:avLst>
          </a:prstGeom>
          <a:solidFill>
            <a:srgbClr val="D4AF37">
              <a:alpha val="8000"/>
            </a:srgbClr>
          </a:solidFill>
          <a:ln w="12700">
            <a:solidFill>
              <a:srgbClr val="D4AF37">
                <a:alpha val="15000"/>
              </a:srgbClr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429854" y="4220870"/>
            <a:ext cx="133502" cy="13350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8658454" y="4104742"/>
            <a:ext cx="12006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Escrow Protection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761695" y="5133442"/>
            <a:ext cx="10668305" cy="1248156"/>
          </a:xfrm>
          <a:prstGeom prst="roundRect">
            <a:avLst>
              <a:gd name="adj" fmla="val 1789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1130198" y="5357470"/>
            <a:ext cx="695858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210" dirty="0">
                <a:ln w="9525">
                  <a:solidFill>
                    <a:srgbClr val="D4AF37"/>
                  </a:solidFill>
                </a:ln>
                <a:solidFill>
                  <a:srgbClr val="000000">
                    <a:alpha val="8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4200" dirty="0"/>
          </a:p>
        </p:txBody>
      </p:sp>
      <p:sp>
        <p:nvSpPr>
          <p:cNvPr id="37" name="Shape 28"/>
          <p:cNvSpPr/>
          <p:nvPr/>
        </p:nvSpPr>
        <p:spPr>
          <a:xfrm>
            <a:off x="2009851" y="5333695"/>
            <a:ext cx="9144" cy="847649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9"/>
          <p:cNvSpPr txBox="1"/>
          <p:nvPr/>
        </p:nvSpPr>
        <p:spPr>
          <a:xfrm>
            <a:off x="2400300" y="5333695"/>
            <a:ext cx="56107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-38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Win Together</a:t>
            </a:r>
            <a:endParaRPr lang="en-US" sz="1900" dirty="0"/>
          </a:p>
        </p:txBody>
      </p:sp>
      <p:sp>
        <p:nvSpPr>
          <p:cNvPr id="39" name="Text 30"/>
          <p:cNvSpPr txBox="1"/>
          <p:nvPr/>
        </p:nvSpPr>
        <p:spPr>
          <a:xfrm>
            <a:off x="2400300" y="5747004"/>
            <a:ext cx="55723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When the player cashes, winnings are verified against official records and distributed proportionally automatically.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8277149" y="5344668"/>
            <a:ext cx="2857500" cy="371246"/>
          </a:xfrm>
          <a:prstGeom prst="roundRect">
            <a:avLst>
              <a:gd name="adj" fmla="val 101048"/>
            </a:avLst>
          </a:prstGeom>
          <a:solidFill>
            <a:srgbClr val="D4AF37">
              <a:alpha val="8000"/>
            </a:srgbClr>
          </a:solidFill>
          <a:ln w="12700">
            <a:solidFill>
              <a:srgbClr val="D4AF37">
                <a:alpha val="15000"/>
              </a:srgbClr>
            </a:solidFill>
            <a:prstDash val="solid"/>
          </a:ln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429854" y="5460797"/>
            <a:ext cx="133502" cy="133502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8658454" y="5344668"/>
            <a:ext cx="114300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Verified Winnings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8277149" y="5805526"/>
            <a:ext cx="2857500" cy="371246"/>
          </a:xfrm>
          <a:prstGeom prst="roundRect">
            <a:avLst>
              <a:gd name="adj" fmla="val 101048"/>
            </a:avLst>
          </a:prstGeom>
          <a:solidFill>
            <a:srgbClr val="D4AF37">
              <a:alpha val="8000"/>
            </a:srgbClr>
          </a:solidFill>
          <a:ln w="12700">
            <a:solidFill>
              <a:srgbClr val="D4AF37">
                <a:alpha val="15000"/>
              </a:srgbClr>
            </a:solidFill>
            <a:prstDash val="solid"/>
          </a:ln>
        </p:spPr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429854" y="5921654"/>
            <a:ext cx="133502" cy="133502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8658454" y="5805526"/>
            <a:ext cx="11530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Auto-Distribution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8" r="-8"/>
          <a:stretch/>
        </p:blipFill>
        <p:spPr>
          <a:xfrm>
            <a:off x="4572000" y="-952805"/>
            <a:ext cx="5715000" cy="190469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8" r="-8"/>
          <a:stretch/>
        </p:blipFill>
        <p:spPr>
          <a:xfrm>
            <a:off x="1904695" y="5905195"/>
            <a:ext cx="5715000" cy="190469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452714" y="381305"/>
            <a:ext cx="31747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96" dirty="0">
                <a:solidFill>
                  <a:srgbClr val="FFFFFF">
                    <a:alpha val="2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BackerHub Investor Presentation 2026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725351" y="6344107"/>
            <a:ext cx="171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2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71500" y="381305"/>
            <a:ext cx="11163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44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 Flow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571500" y="611734"/>
            <a:ext cx="111639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Complete BackerHub Experience</a:t>
            </a:r>
            <a:endParaRPr lang="en-US" sz="2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571500" y="1075334"/>
            <a:ext cx="571500" cy="2834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71500" y="1990649"/>
            <a:ext cx="11048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2492654" y="1484986"/>
            <a:ext cx="190195" cy="190195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2454250" y="1484986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5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Text 9"/>
          <p:cNvSpPr txBox="1"/>
          <p:nvPr/>
        </p:nvSpPr>
        <p:spPr>
          <a:xfrm>
            <a:off x="2169871" y="1723644"/>
            <a:ext cx="838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Onboarding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143146" y="1484986"/>
            <a:ext cx="190195" cy="190195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104742" y="1484986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5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Text 12"/>
          <p:cNvSpPr txBox="1"/>
          <p:nvPr/>
        </p:nvSpPr>
        <p:spPr>
          <a:xfrm>
            <a:off x="3954780" y="1723644"/>
            <a:ext cx="571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Browse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5794553" y="1484986"/>
            <a:ext cx="190195" cy="190195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756148" y="1484986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5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5"/>
          <p:cNvSpPr txBox="1"/>
          <p:nvPr/>
        </p:nvSpPr>
        <p:spPr>
          <a:xfrm>
            <a:off x="5446166" y="1723644"/>
            <a:ext cx="8961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Transaction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7445045" y="1484986"/>
            <a:ext cx="190195" cy="190195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407554" y="1484986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5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Text 18"/>
          <p:cNvSpPr txBox="1"/>
          <p:nvPr/>
        </p:nvSpPr>
        <p:spPr>
          <a:xfrm>
            <a:off x="7102145" y="1723644"/>
            <a:ext cx="8769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Tournament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9096451" y="1484986"/>
            <a:ext cx="190195" cy="190195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9058046" y="1484986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5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800" dirty="0"/>
          </a:p>
        </p:txBody>
      </p:sp>
      <p:sp>
        <p:nvSpPr>
          <p:cNvPr id="26" name="Text 21"/>
          <p:cNvSpPr txBox="1"/>
          <p:nvPr/>
        </p:nvSpPr>
        <p:spPr>
          <a:xfrm>
            <a:off x="8773668" y="1723644"/>
            <a:ext cx="8385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Settlement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10746943" y="1484986"/>
            <a:ext cx="190195" cy="190195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10709453" y="1484986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5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10581437" y="1723644"/>
            <a:ext cx="5239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Payout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1705356" y="2142439"/>
            <a:ext cx="9144" cy="952805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rcRect l="-1082" r="-1082"/>
          <a:stretch/>
        </p:blipFill>
        <p:spPr>
          <a:xfrm>
            <a:off x="571500" y="2446020"/>
            <a:ext cx="161849" cy="181051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95605" y="2627071"/>
            <a:ext cx="10671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Backer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1809598" y="2142439"/>
            <a:ext cx="1561795" cy="952805"/>
          </a:xfrm>
          <a:prstGeom prst="roundRect">
            <a:avLst>
              <a:gd name="adj" fmla="val 1151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1809598" y="2142439"/>
            <a:ext cx="19202" cy="952805"/>
          </a:xfrm>
          <a:prstGeom prst="roundRect">
            <a:avLst>
              <a:gd name="adj" fmla="val 571440"/>
            </a:avLst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1923898" y="2379269"/>
            <a:ext cx="14200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Sign Up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1923898" y="2600554"/>
            <a:ext cx="14008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Connect wallet or email registration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>
            <a:off x="3461004" y="2142439"/>
            <a:ext cx="1561795" cy="952805"/>
          </a:xfrm>
          <a:prstGeom prst="roundRect">
            <a:avLst>
              <a:gd name="adj" fmla="val 1151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3461004" y="2142439"/>
            <a:ext cx="19202" cy="952805"/>
          </a:xfrm>
          <a:prstGeom prst="roundRect">
            <a:avLst>
              <a:gd name="adj" fmla="val 571440"/>
            </a:avLst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3575304" y="2444191"/>
            <a:ext cx="14200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Discovery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3575304" y="2664562"/>
            <a:ext cx="1420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Filter by ROI &amp; Rating</a:t>
            </a:r>
            <a:endParaRPr lang="en-US" sz="800" dirty="0"/>
          </a:p>
        </p:txBody>
      </p:sp>
      <p:sp>
        <p:nvSpPr>
          <p:cNvPr id="41" name="Shape 35"/>
          <p:cNvSpPr/>
          <p:nvPr/>
        </p:nvSpPr>
        <p:spPr>
          <a:xfrm>
            <a:off x="5111496" y="2142439"/>
            <a:ext cx="1561795" cy="952805"/>
          </a:xfrm>
          <a:prstGeom prst="roundRect">
            <a:avLst>
              <a:gd name="adj" fmla="val 1151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5111496" y="2142439"/>
            <a:ext cx="19202" cy="952805"/>
          </a:xfrm>
          <a:prstGeom prst="roundRect">
            <a:avLst>
              <a:gd name="adj" fmla="val 571440"/>
            </a:avLst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5225796" y="2444191"/>
            <a:ext cx="14200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Buy Action</a:t>
            </a:r>
            <a:endParaRPr lang="en-US" sz="900" dirty="0"/>
          </a:p>
        </p:txBody>
      </p:sp>
      <p:sp>
        <p:nvSpPr>
          <p:cNvPr id="44" name="Text 38"/>
          <p:cNvSpPr txBox="1"/>
          <p:nvPr/>
        </p:nvSpPr>
        <p:spPr>
          <a:xfrm>
            <a:off x="5225796" y="2664562"/>
            <a:ext cx="1420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Purchase % + Fees</a:t>
            </a:r>
            <a:endParaRPr lang="en-US" sz="800" dirty="0"/>
          </a:p>
        </p:txBody>
      </p:sp>
      <p:sp>
        <p:nvSpPr>
          <p:cNvPr id="46" name="Shape 40"/>
          <p:cNvSpPr/>
          <p:nvPr/>
        </p:nvSpPr>
        <p:spPr>
          <a:xfrm>
            <a:off x="6762902" y="2142439"/>
            <a:ext cx="19202" cy="952805"/>
          </a:xfrm>
          <a:prstGeom prst="roundRect">
            <a:avLst>
              <a:gd name="adj" fmla="val 571440"/>
            </a:avLst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6877202" y="2444191"/>
            <a:ext cx="14200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F8F8">
                    <a:alpha val="5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Notification</a:t>
            </a:r>
            <a:endParaRPr lang="en-US" sz="900" dirty="0"/>
          </a:p>
        </p:txBody>
      </p:sp>
      <p:sp>
        <p:nvSpPr>
          <p:cNvPr id="48" name="Text 42"/>
          <p:cNvSpPr txBox="1"/>
          <p:nvPr/>
        </p:nvSpPr>
        <p:spPr>
          <a:xfrm>
            <a:off x="6877202" y="2664562"/>
            <a:ext cx="1420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>
                    <a:alpha val="5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 alert received</a:t>
            </a:r>
            <a:endParaRPr lang="en-US" sz="800" dirty="0"/>
          </a:p>
        </p:txBody>
      </p:sp>
      <p:sp>
        <p:nvSpPr>
          <p:cNvPr id="49" name="Shape 43"/>
          <p:cNvSpPr/>
          <p:nvPr/>
        </p:nvSpPr>
        <p:spPr>
          <a:xfrm>
            <a:off x="10064801" y="2142439"/>
            <a:ext cx="1561795" cy="952805"/>
          </a:xfrm>
          <a:prstGeom prst="roundRect">
            <a:avLst>
              <a:gd name="adj" fmla="val 1151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10064801" y="2142439"/>
            <a:ext cx="19202" cy="952805"/>
          </a:xfrm>
          <a:prstGeom prst="roundRect">
            <a:avLst>
              <a:gd name="adj" fmla="val 571440"/>
            </a:avLst>
          </a:prstGeom>
          <a:solidFill>
            <a:srgbClr val="D4AF37"/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10179101" y="2444191"/>
            <a:ext cx="14200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Receive ROI</a:t>
            </a:r>
            <a:endParaRPr lang="en-US" sz="900" dirty="0"/>
          </a:p>
        </p:txBody>
      </p:sp>
      <p:sp>
        <p:nvSpPr>
          <p:cNvPr id="52" name="Text 46"/>
          <p:cNvSpPr txBox="1"/>
          <p:nvPr/>
        </p:nvSpPr>
        <p:spPr>
          <a:xfrm>
            <a:off x="10179101" y="2664562"/>
            <a:ext cx="1420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Auto-deposit to wallet</a:t>
            </a:r>
            <a:endParaRPr lang="en-US" sz="800" dirty="0"/>
          </a:p>
        </p:txBody>
      </p:sp>
      <p:sp>
        <p:nvSpPr>
          <p:cNvPr id="53" name="Shape 47"/>
          <p:cNvSpPr/>
          <p:nvPr/>
        </p:nvSpPr>
        <p:spPr>
          <a:xfrm>
            <a:off x="1705356" y="3237890"/>
            <a:ext cx="9144" cy="952805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71500" y="3541471"/>
            <a:ext cx="181051" cy="181051"/>
          </a:xfrm>
          <a:prstGeom prst="rect">
            <a:avLst/>
          </a:prstGeom>
        </p:spPr>
      </p:pic>
      <p:sp>
        <p:nvSpPr>
          <p:cNvPr id="55" name="Text 48"/>
          <p:cNvSpPr txBox="1"/>
          <p:nvPr/>
        </p:nvSpPr>
        <p:spPr>
          <a:xfrm>
            <a:off x="495605" y="3722522"/>
            <a:ext cx="10671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</a:t>
            </a:r>
            <a:endParaRPr lang="en-US" sz="1000" dirty="0"/>
          </a:p>
        </p:txBody>
      </p:sp>
      <p:sp>
        <p:nvSpPr>
          <p:cNvPr id="56" name="Shape 49"/>
          <p:cNvSpPr/>
          <p:nvPr/>
        </p:nvSpPr>
        <p:spPr>
          <a:xfrm>
            <a:off x="1809598" y="3237890"/>
            <a:ext cx="1561795" cy="952805"/>
          </a:xfrm>
          <a:prstGeom prst="roundRect">
            <a:avLst>
              <a:gd name="adj" fmla="val 1151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1809598" y="3237890"/>
            <a:ext cx="19202" cy="952805"/>
          </a:xfrm>
          <a:prstGeom prst="roundRect">
            <a:avLst>
              <a:gd name="adj" fmla="val 571440"/>
            </a:avLst>
          </a:prstGeom>
          <a:solidFill>
            <a:srgbClr val="555555"/>
          </a:solidFill>
          <a:ln w="12700">
            <a:solidFill>
              <a:srgbClr val="555555">
                <a:alpha val="0"/>
              </a:srgbClr>
            </a:solidFill>
            <a:prstDash val="solid"/>
          </a:ln>
        </p:spPr>
      </p:sp>
      <p:sp>
        <p:nvSpPr>
          <p:cNvPr id="58" name="Text 51"/>
          <p:cNvSpPr txBox="1"/>
          <p:nvPr/>
        </p:nvSpPr>
        <p:spPr>
          <a:xfrm>
            <a:off x="1923898" y="3538728"/>
            <a:ext cx="14200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KYC Check</a:t>
            </a:r>
            <a:endParaRPr lang="en-US" sz="900" dirty="0"/>
          </a:p>
        </p:txBody>
      </p:sp>
      <p:sp>
        <p:nvSpPr>
          <p:cNvPr id="59" name="Text 52"/>
          <p:cNvSpPr txBox="1"/>
          <p:nvPr/>
        </p:nvSpPr>
        <p:spPr>
          <a:xfrm>
            <a:off x="1923898" y="3760013"/>
            <a:ext cx="1420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Identity Verification</a:t>
            </a:r>
            <a:endParaRPr lang="en-US" sz="800" dirty="0"/>
          </a:p>
        </p:txBody>
      </p:sp>
      <p:sp>
        <p:nvSpPr>
          <p:cNvPr id="60" name="Shape 53"/>
          <p:cNvSpPr/>
          <p:nvPr/>
        </p:nvSpPr>
        <p:spPr>
          <a:xfrm>
            <a:off x="5111496" y="3237890"/>
            <a:ext cx="1561795" cy="952805"/>
          </a:xfrm>
          <a:prstGeom prst="roundRect">
            <a:avLst>
              <a:gd name="adj" fmla="val 1151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5111496" y="3237890"/>
            <a:ext cx="19202" cy="952805"/>
          </a:xfrm>
          <a:prstGeom prst="roundRect">
            <a:avLst>
              <a:gd name="adj" fmla="val 571440"/>
            </a:avLst>
          </a:prstGeom>
          <a:solidFill>
            <a:srgbClr val="555555"/>
          </a:solidFill>
          <a:ln w="12700">
            <a:solidFill>
              <a:srgbClr val="555555">
                <a:alpha val="0"/>
              </a:srgbClr>
            </a:solidFill>
            <a:prstDash val="solid"/>
          </a:ln>
        </p:spPr>
      </p:sp>
      <p:sp>
        <p:nvSpPr>
          <p:cNvPr id="62" name="Text 55"/>
          <p:cNvSpPr txBox="1"/>
          <p:nvPr/>
        </p:nvSpPr>
        <p:spPr>
          <a:xfrm>
            <a:off x="5225796" y="3538728"/>
            <a:ext cx="14200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Escrow Lock</a:t>
            </a:r>
            <a:endParaRPr lang="en-US" sz="900" dirty="0"/>
          </a:p>
        </p:txBody>
      </p:sp>
      <p:sp>
        <p:nvSpPr>
          <p:cNvPr id="63" name="Text 56"/>
          <p:cNvSpPr txBox="1"/>
          <p:nvPr/>
        </p:nvSpPr>
        <p:spPr>
          <a:xfrm>
            <a:off x="5225796" y="3760013"/>
            <a:ext cx="1420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Funds held securely</a:t>
            </a:r>
            <a:endParaRPr lang="en-US" sz="800" dirty="0"/>
          </a:p>
        </p:txBody>
      </p:sp>
      <p:sp>
        <p:nvSpPr>
          <p:cNvPr id="64" name="Shape 57"/>
          <p:cNvSpPr/>
          <p:nvPr/>
        </p:nvSpPr>
        <p:spPr>
          <a:xfrm>
            <a:off x="6762902" y="3237890"/>
            <a:ext cx="1561795" cy="952805"/>
          </a:xfrm>
          <a:prstGeom prst="roundRect">
            <a:avLst>
              <a:gd name="adj" fmla="val 1151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6762902" y="3237890"/>
            <a:ext cx="19202" cy="952805"/>
          </a:xfrm>
          <a:prstGeom prst="roundRect">
            <a:avLst>
              <a:gd name="adj" fmla="val 571440"/>
            </a:avLst>
          </a:prstGeom>
          <a:solidFill>
            <a:srgbClr val="555555"/>
          </a:solidFill>
          <a:ln w="12700">
            <a:solidFill>
              <a:srgbClr val="555555">
                <a:alpha val="0"/>
              </a:srgbClr>
            </a:solidFill>
            <a:prstDash val="solid"/>
          </a:ln>
        </p:spPr>
      </p:sp>
      <p:sp>
        <p:nvSpPr>
          <p:cNvPr id="66" name="Text 59"/>
          <p:cNvSpPr txBox="1"/>
          <p:nvPr/>
        </p:nvSpPr>
        <p:spPr>
          <a:xfrm>
            <a:off x="6877202" y="3538728"/>
            <a:ext cx="14200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 Tracking</a:t>
            </a:r>
            <a:endParaRPr lang="en-US" sz="900" dirty="0"/>
          </a:p>
        </p:txBody>
      </p:sp>
      <p:sp>
        <p:nvSpPr>
          <p:cNvPr id="67" name="Text 60"/>
          <p:cNvSpPr txBox="1"/>
          <p:nvPr/>
        </p:nvSpPr>
        <p:spPr>
          <a:xfrm>
            <a:off x="6877202" y="3760013"/>
            <a:ext cx="1420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 Integration</a:t>
            </a:r>
            <a:endParaRPr lang="en-US" sz="800" dirty="0"/>
          </a:p>
        </p:txBody>
      </p:sp>
      <p:sp>
        <p:nvSpPr>
          <p:cNvPr id="68" name="Shape 61"/>
          <p:cNvSpPr/>
          <p:nvPr/>
        </p:nvSpPr>
        <p:spPr>
          <a:xfrm>
            <a:off x="8413394" y="3237890"/>
            <a:ext cx="1561795" cy="952805"/>
          </a:xfrm>
          <a:prstGeom prst="roundRect">
            <a:avLst>
              <a:gd name="adj" fmla="val 1151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9" name="Shape 62"/>
          <p:cNvSpPr/>
          <p:nvPr/>
        </p:nvSpPr>
        <p:spPr>
          <a:xfrm>
            <a:off x="8413394" y="3237890"/>
            <a:ext cx="19202" cy="952805"/>
          </a:xfrm>
          <a:prstGeom prst="roundRect">
            <a:avLst>
              <a:gd name="adj" fmla="val 571440"/>
            </a:avLst>
          </a:prstGeom>
          <a:solidFill>
            <a:srgbClr val="555555"/>
          </a:solidFill>
          <a:ln w="12700">
            <a:solidFill>
              <a:srgbClr val="555555">
                <a:alpha val="0"/>
              </a:srgbClr>
            </a:solidFill>
            <a:prstDash val="solid"/>
          </a:ln>
        </p:spPr>
      </p:sp>
      <p:sp>
        <p:nvSpPr>
          <p:cNvPr id="70" name="Text 63"/>
          <p:cNvSpPr txBox="1"/>
          <p:nvPr/>
        </p:nvSpPr>
        <p:spPr>
          <a:xfrm>
            <a:off x="8527694" y="3538728"/>
            <a:ext cx="14200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Admin Verify</a:t>
            </a:r>
            <a:endParaRPr lang="en-US" sz="900" dirty="0"/>
          </a:p>
        </p:txBody>
      </p:sp>
      <p:sp>
        <p:nvSpPr>
          <p:cNvPr id="71" name="Text 64"/>
          <p:cNvSpPr txBox="1"/>
          <p:nvPr/>
        </p:nvSpPr>
        <p:spPr>
          <a:xfrm>
            <a:off x="8527694" y="3760013"/>
            <a:ext cx="148041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Confirm official results</a:t>
            </a:r>
            <a:endParaRPr lang="en-US" sz="800" dirty="0"/>
          </a:p>
        </p:txBody>
      </p:sp>
      <p:sp>
        <p:nvSpPr>
          <p:cNvPr id="72" name="Shape 65"/>
          <p:cNvSpPr/>
          <p:nvPr/>
        </p:nvSpPr>
        <p:spPr>
          <a:xfrm>
            <a:off x="10064801" y="3237890"/>
            <a:ext cx="1561795" cy="952805"/>
          </a:xfrm>
          <a:prstGeom prst="roundRect">
            <a:avLst>
              <a:gd name="adj" fmla="val 1151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3" name="Shape 66"/>
          <p:cNvSpPr/>
          <p:nvPr/>
        </p:nvSpPr>
        <p:spPr>
          <a:xfrm>
            <a:off x="10064801" y="3237890"/>
            <a:ext cx="19202" cy="952805"/>
          </a:xfrm>
          <a:prstGeom prst="roundRect">
            <a:avLst>
              <a:gd name="adj" fmla="val 571440"/>
            </a:avLst>
          </a:prstGeom>
          <a:solidFill>
            <a:srgbClr val="555555"/>
          </a:solidFill>
          <a:ln w="12700">
            <a:solidFill>
              <a:srgbClr val="555555">
                <a:alpha val="0"/>
              </a:srgbClr>
            </a:solidFill>
            <a:prstDash val="solid"/>
          </a:ln>
        </p:spPr>
      </p:sp>
      <p:sp>
        <p:nvSpPr>
          <p:cNvPr id="74" name="Text 67"/>
          <p:cNvSpPr txBox="1"/>
          <p:nvPr/>
        </p:nvSpPr>
        <p:spPr>
          <a:xfrm>
            <a:off x="10179101" y="3538728"/>
            <a:ext cx="14200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Distribute</a:t>
            </a:r>
            <a:endParaRPr lang="en-US" sz="900" dirty="0"/>
          </a:p>
        </p:txBody>
      </p:sp>
      <p:sp>
        <p:nvSpPr>
          <p:cNvPr id="75" name="Text 68"/>
          <p:cNvSpPr txBox="1"/>
          <p:nvPr/>
        </p:nvSpPr>
        <p:spPr>
          <a:xfrm>
            <a:off x="10179101" y="3760013"/>
            <a:ext cx="1420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Smart Contract Exec</a:t>
            </a:r>
            <a:endParaRPr lang="en-US" sz="800" dirty="0"/>
          </a:p>
        </p:txBody>
      </p:sp>
      <p:sp>
        <p:nvSpPr>
          <p:cNvPr id="76" name="Shape 69"/>
          <p:cNvSpPr/>
          <p:nvPr/>
        </p:nvSpPr>
        <p:spPr>
          <a:xfrm>
            <a:off x="1705356" y="4333342"/>
            <a:ext cx="9144" cy="952805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7" name="Image 5" descr="preencoded.png"/>
          <p:cNvPicPr>
            <a:picLocks noChangeAspect="1"/>
          </p:cNvPicPr>
          <p:nvPr/>
        </p:nvPicPr>
        <p:blipFill>
          <a:blip r:embed="rId8"/>
          <a:srcRect l="-1082" r="-1082"/>
          <a:stretch/>
        </p:blipFill>
        <p:spPr>
          <a:xfrm>
            <a:off x="571500" y="4636922"/>
            <a:ext cx="161849" cy="181051"/>
          </a:xfrm>
          <a:prstGeom prst="rect">
            <a:avLst/>
          </a:prstGeom>
        </p:spPr>
      </p:pic>
      <p:sp>
        <p:nvSpPr>
          <p:cNvPr id="78" name="Text 70"/>
          <p:cNvSpPr txBox="1"/>
          <p:nvPr/>
        </p:nvSpPr>
        <p:spPr>
          <a:xfrm>
            <a:off x="495605" y="4817974"/>
            <a:ext cx="10671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Player</a:t>
            </a:r>
            <a:endParaRPr lang="en-US" sz="1000" dirty="0"/>
          </a:p>
        </p:txBody>
      </p:sp>
      <p:sp>
        <p:nvSpPr>
          <p:cNvPr id="79" name="Shape 71"/>
          <p:cNvSpPr/>
          <p:nvPr/>
        </p:nvSpPr>
        <p:spPr>
          <a:xfrm>
            <a:off x="1809598" y="4333342"/>
            <a:ext cx="1561795" cy="952805"/>
          </a:xfrm>
          <a:prstGeom prst="roundRect">
            <a:avLst>
              <a:gd name="adj" fmla="val 1151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0" name="Shape 72"/>
          <p:cNvSpPr/>
          <p:nvPr/>
        </p:nvSpPr>
        <p:spPr>
          <a:xfrm>
            <a:off x="1809598" y="4333342"/>
            <a:ext cx="19202" cy="952805"/>
          </a:xfrm>
          <a:prstGeom prst="roundRect">
            <a:avLst>
              <a:gd name="adj" fmla="val 571440"/>
            </a:avLst>
          </a:prstGeom>
          <a:solidFill>
            <a:srgbClr val="A0A0A0"/>
          </a:solidFill>
          <a:ln w="12700">
            <a:solidFill>
              <a:srgbClr val="A0A0A0">
                <a:alpha val="0"/>
              </a:srgbClr>
            </a:solidFill>
            <a:prstDash val="solid"/>
          </a:ln>
        </p:spPr>
      </p:sp>
      <p:sp>
        <p:nvSpPr>
          <p:cNvPr id="81" name="Text 73"/>
          <p:cNvSpPr txBox="1"/>
          <p:nvPr/>
        </p:nvSpPr>
        <p:spPr>
          <a:xfrm>
            <a:off x="1923898" y="4634179"/>
            <a:ext cx="14200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Register</a:t>
            </a:r>
            <a:endParaRPr lang="en-US" sz="900" dirty="0"/>
          </a:p>
        </p:txBody>
      </p:sp>
      <p:sp>
        <p:nvSpPr>
          <p:cNvPr id="82" name="Text 74"/>
          <p:cNvSpPr txBox="1"/>
          <p:nvPr/>
        </p:nvSpPr>
        <p:spPr>
          <a:xfrm>
            <a:off x="1923898" y="4855464"/>
            <a:ext cx="1420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Profile &amp; ID Upload</a:t>
            </a:r>
            <a:endParaRPr lang="en-US" sz="800" dirty="0"/>
          </a:p>
        </p:txBody>
      </p:sp>
      <p:sp>
        <p:nvSpPr>
          <p:cNvPr id="83" name="Shape 75"/>
          <p:cNvSpPr/>
          <p:nvPr/>
        </p:nvSpPr>
        <p:spPr>
          <a:xfrm>
            <a:off x="3461004" y="4333342"/>
            <a:ext cx="1561795" cy="952805"/>
          </a:xfrm>
          <a:prstGeom prst="roundRect">
            <a:avLst>
              <a:gd name="adj" fmla="val 1151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4" name="Shape 76"/>
          <p:cNvSpPr/>
          <p:nvPr/>
        </p:nvSpPr>
        <p:spPr>
          <a:xfrm>
            <a:off x="3461004" y="4333342"/>
            <a:ext cx="19202" cy="952805"/>
          </a:xfrm>
          <a:prstGeom prst="roundRect">
            <a:avLst>
              <a:gd name="adj" fmla="val 571440"/>
            </a:avLst>
          </a:prstGeom>
          <a:solidFill>
            <a:srgbClr val="A0A0A0"/>
          </a:solidFill>
          <a:ln w="12700">
            <a:solidFill>
              <a:srgbClr val="A0A0A0">
                <a:alpha val="0"/>
              </a:srgbClr>
            </a:solidFill>
            <a:prstDash val="solid"/>
          </a:ln>
        </p:spPr>
      </p:sp>
      <p:sp>
        <p:nvSpPr>
          <p:cNvPr id="85" name="Text 77"/>
          <p:cNvSpPr txBox="1"/>
          <p:nvPr/>
        </p:nvSpPr>
        <p:spPr>
          <a:xfrm>
            <a:off x="3575304" y="4634179"/>
            <a:ext cx="14200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Create Listing</a:t>
            </a:r>
            <a:endParaRPr lang="en-US" sz="900" dirty="0"/>
          </a:p>
        </p:txBody>
      </p:sp>
      <p:sp>
        <p:nvSpPr>
          <p:cNvPr id="86" name="Text 78"/>
          <p:cNvSpPr txBox="1"/>
          <p:nvPr/>
        </p:nvSpPr>
        <p:spPr>
          <a:xfrm>
            <a:off x="3575304" y="4855464"/>
            <a:ext cx="1420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Set markup &amp; % sold</a:t>
            </a:r>
            <a:endParaRPr lang="en-US" sz="800" dirty="0"/>
          </a:p>
        </p:txBody>
      </p:sp>
      <p:sp>
        <p:nvSpPr>
          <p:cNvPr id="87" name="Shape 79"/>
          <p:cNvSpPr/>
          <p:nvPr/>
        </p:nvSpPr>
        <p:spPr>
          <a:xfrm>
            <a:off x="5111496" y="4333342"/>
            <a:ext cx="1561795" cy="952805"/>
          </a:xfrm>
          <a:prstGeom prst="roundRect">
            <a:avLst>
              <a:gd name="adj" fmla="val 1151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8" name="Shape 80"/>
          <p:cNvSpPr/>
          <p:nvPr/>
        </p:nvSpPr>
        <p:spPr>
          <a:xfrm>
            <a:off x="5111496" y="4333342"/>
            <a:ext cx="19202" cy="952805"/>
          </a:xfrm>
          <a:prstGeom prst="roundRect">
            <a:avLst>
              <a:gd name="adj" fmla="val 571440"/>
            </a:avLst>
          </a:prstGeom>
          <a:solidFill>
            <a:srgbClr val="A0A0A0"/>
          </a:solidFill>
          <a:ln w="12700">
            <a:solidFill>
              <a:srgbClr val="A0A0A0">
                <a:alpha val="0"/>
              </a:srgbClr>
            </a:solidFill>
            <a:prstDash val="solid"/>
          </a:ln>
        </p:spPr>
      </p:sp>
      <p:sp>
        <p:nvSpPr>
          <p:cNvPr id="89" name="Text 81"/>
          <p:cNvSpPr txBox="1"/>
          <p:nvPr/>
        </p:nvSpPr>
        <p:spPr>
          <a:xfrm>
            <a:off x="5225796" y="4634179"/>
            <a:ext cx="14200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Confirm Reg</a:t>
            </a:r>
            <a:endParaRPr lang="en-US" sz="900" dirty="0"/>
          </a:p>
        </p:txBody>
      </p:sp>
      <p:sp>
        <p:nvSpPr>
          <p:cNvPr id="90" name="Text 82"/>
          <p:cNvSpPr txBox="1"/>
          <p:nvPr/>
        </p:nvSpPr>
        <p:spPr>
          <a:xfrm>
            <a:off x="5225796" y="4855464"/>
            <a:ext cx="1420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Upload ticket proof</a:t>
            </a:r>
            <a:endParaRPr lang="en-US" sz="800" dirty="0"/>
          </a:p>
        </p:txBody>
      </p:sp>
      <p:sp>
        <p:nvSpPr>
          <p:cNvPr id="91" name="Shape 83"/>
          <p:cNvSpPr/>
          <p:nvPr/>
        </p:nvSpPr>
        <p:spPr>
          <a:xfrm>
            <a:off x="6762902" y="4333342"/>
            <a:ext cx="1561795" cy="952805"/>
          </a:xfrm>
          <a:prstGeom prst="roundRect">
            <a:avLst>
              <a:gd name="adj" fmla="val 1151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2" name="Shape 84"/>
          <p:cNvSpPr/>
          <p:nvPr/>
        </p:nvSpPr>
        <p:spPr>
          <a:xfrm>
            <a:off x="6762902" y="4333342"/>
            <a:ext cx="19202" cy="952805"/>
          </a:xfrm>
          <a:prstGeom prst="roundRect">
            <a:avLst>
              <a:gd name="adj" fmla="val 571440"/>
            </a:avLst>
          </a:prstGeom>
          <a:solidFill>
            <a:srgbClr val="A0A0A0"/>
          </a:solidFill>
          <a:ln w="12700">
            <a:solidFill>
              <a:srgbClr val="A0A0A0">
                <a:alpha val="0"/>
              </a:srgbClr>
            </a:solidFill>
            <a:prstDash val="solid"/>
          </a:ln>
        </p:spPr>
      </p:sp>
      <p:sp>
        <p:nvSpPr>
          <p:cNvPr id="93" name="Text 85"/>
          <p:cNvSpPr txBox="1"/>
          <p:nvPr/>
        </p:nvSpPr>
        <p:spPr>
          <a:xfrm>
            <a:off x="6877202" y="4634179"/>
            <a:ext cx="14200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Compete</a:t>
            </a:r>
            <a:endParaRPr lang="en-US" sz="900" dirty="0"/>
          </a:p>
        </p:txBody>
      </p:sp>
      <p:sp>
        <p:nvSpPr>
          <p:cNvPr id="94" name="Text 86"/>
          <p:cNvSpPr txBox="1"/>
          <p:nvPr/>
        </p:nvSpPr>
        <p:spPr>
          <a:xfrm>
            <a:off x="6877202" y="4855464"/>
            <a:ext cx="1420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Play in tournament</a:t>
            </a:r>
            <a:endParaRPr lang="en-US" sz="800" dirty="0"/>
          </a:p>
        </p:txBody>
      </p:sp>
      <p:sp>
        <p:nvSpPr>
          <p:cNvPr id="95" name="Shape 87"/>
          <p:cNvSpPr/>
          <p:nvPr/>
        </p:nvSpPr>
        <p:spPr>
          <a:xfrm>
            <a:off x="8413394" y="4333342"/>
            <a:ext cx="1561795" cy="952805"/>
          </a:xfrm>
          <a:prstGeom prst="roundRect">
            <a:avLst>
              <a:gd name="adj" fmla="val 1151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6" name="Shape 88"/>
          <p:cNvSpPr/>
          <p:nvPr/>
        </p:nvSpPr>
        <p:spPr>
          <a:xfrm>
            <a:off x="8413394" y="4333342"/>
            <a:ext cx="19202" cy="952805"/>
          </a:xfrm>
          <a:prstGeom prst="roundRect">
            <a:avLst>
              <a:gd name="adj" fmla="val 571440"/>
            </a:avLst>
          </a:prstGeom>
          <a:solidFill>
            <a:srgbClr val="A0A0A0"/>
          </a:solidFill>
          <a:ln w="12700">
            <a:solidFill>
              <a:srgbClr val="A0A0A0">
                <a:alpha val="0"/>
              </a:srgbClr>
            </a:solidFill>
            <a:prstDash val="solid"/>
          </a:ln>
        </p:spPr>
      </p:sp>
      <p:sp>
        <p:nvSpPr>
          <p:cNvPr id="97" name="Text 89"/>
          <p:cNvSpPr txBox="1"/>
          <p:nvPr/>
        </p:nvSpPr>
        <p:spPr>
          <a:xfrm>
            <a:off x="8527694" y="4634179"/>
            <a:ext cx="14200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Report Result</a:t>
            </a:r>
            <a:endParaRPr lang="en-US" sz="900" dirty="0"/>
          </a:p>
        </p:txBody>
      </p:sp>
      <p:sp>
        <p:nvSpPr>
          <p:cNvPr id="98" name="Text 90"/>
          <p:cNvSpPr txBox="1"/>
          <p:nvPr/>
        </p:nvSpPr>
        <p:spPr>
          <a:xfrm>
            <a:off x="8527694" y="4855464"/>
            <a:ext cx="1420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Upload win proof</a:t>
            </a:r>
            <a:endParaRPr lang="en-US" sz="800" dirty="0"/>
          </a:p>
        </p:txBody>
      </p:sp>
      <p:sp>
        <p:nvSpPr>
          <p:cNvPr id="99" name="Shape 91"/>
          <p:cNvSpPr/>
          <p:nvPr/>
        </p:nvSpPr>
        <p:spPr>
          <a:xfrm>
            <a:off x="10064801" y="4333342"/>
            <a:ext cx="1561795" cy="952805"/>
          </a:xfrm>
          <a:prstGeom prst="roundRect">
            <a:avLst>
              <a:gd name="adj" fmla="val 1151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0" name="Shape 92"/>
          <p:cNvSpPr/>
          <p:nvPr/>
        </p:nvSpPr>
        <p:spPr>
          <a:xfrm>
            <a:off x="10064801" y="4333342"/>
            <a:ext cx="19202" cy="952805"/>
          </a:xfrm>
          <a:prstGeom prst="roundRect">
            <a:avLst>
              <a:gd name="adj" fmla="val 571440"/>
            </a:avLst>
          </a:prstGeom>
          <a:solidFill>
            <a:srgbClr val="A0A0A0"/>
          </a:solidFill>
          <a:ln w="12700">
            <a:solidFill>
              <a:srgbClr val="A0A0A0">
                <a:alpha val="0"/>
              </a:srgbClr>
            </a:solidFill>
            <a:prstDash val="solid"/>
          </a:ln>
        </p:spPr>
      </p:sp>
      <p:sp>
        <p:nvSpPr>
          <p:cNvPr id="101" name="Text 93"/>
          <p:cNvSpPr txBox="1"/>
          <p:nvPr/>
        </p:nvSpPr>
        <p:spPr>
          <a:xfrm>
            <a:off x="10179101" y="4634179"/>
            <a:ext cx="14200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Get Rated</a:t>
            </a:r>
            <a:endParaRPr lang="en-US" sz="900" dirty="0"/>
          </a:p>
        </p:txBody>
      </p:sp>
      <p:sp>
        <p:nvSpPr>
          <p:cNvPr id="102" name="Text 94"/>
          <p:cNvSpPr txBox="1"/>
          <p:nvPr/>
        </p:nvSpPr>
        <p:spPr>
          <a:xfrm>
            <a:off x="10179101" y="4855464"/>
            <a:ext cx="1420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Reliability score up</a:t>
            </a:r>
            <a:endParaRPr lang="en-US" sz="800" dirty="0"/>
          </a:p>
        </p:txBody>
      </p:sp>
      <p:pic>
        <p:nvPicPr>
          <p:cNvPr id="103" name="Image 6" descr="preencoded.png"/>
          <p:cNvPicPr>
            <a:picLocks noChangeAspect="1"/>
          </p:cNvPicPr>
          <p:nvPr/>
        </p:nvPicPr>
        <p:blipFill>
          <a:blip r:embed="rId9"/>
          <a:srcRect t="-829" b="-829"/>
          <a:stretch/>
        </p:blipFill>
        <p:spPr>
          <a:xfrm>
            <a:off x="3431743" y="2556662"/>
            <a:ext cx="75895" cy="123444"/>
          </a:xfrm>
          <a:prstGeom prst="rect">
            <a:avLst/>
          </a:prstGeom>
        </p:spPr>
      </p:pic>
      <p:pic>
        <p:nvPicPr>
          <p:cNvPr id="104" name="Image 7" descr="preencoded.png"/>
          <p:cNvPicPr>
            <a:picLocks noChangeAspect="1"/>
          </p:cNvPicPr>
          <p:nvPr/>
        </p:nvPicPr>
        <p:blipFill>
          <a:blip r:embed="rId9"/>
          <a:srcRect t="-829" b="-829"/>
          <a:stretch/>
        </p:blipFill>
        <p:spPr>
          <a:xfrm>
            <a:off x="5083150" y="2556662"/>
            <a:ext cx="75895" cy="123444"/>
          </a:xfrm>
          <a:prstGeom prst="rect">
            <a:avLst/>
          </a:prstGeom>
        </p:spPr>
      </p:pic>
      <p:pic>
        <p:nvPicPr>
          <p:cNvPr id="105" name="Image 8" descr="preencoded.png"/>
          <p:cNvPicPr>
            <a:picLocks noChangeAspect="1"/>
          </p:cNvPicPr>
          <p:nvPr/>
        </p:nvPicPr>
        <p:blipFill>
          <a:blip r:embed="rId9"/>
          <a:srcRect t="-829" b="-829"/>
          <a:stretch/>
        </p:blipFill>
        <p:spPr>
          <a:xfrm>
            <a:off x="6733642" y="3652114"/>
            <a:ext cx="75895" cy="123444"/>
          </a:xfrm>
          <a:prstGeom prst="rect">
            <a:avLst/>
          </a:prstGeom>
        </p:spPr>
      </p:pic>
      <p:pic>
        <p:nvPicPr>
          <p:cNvPr id="106" name="Image 9" descr="preencoded.png"/>
          <p:cNvPicPr>
            <a:picLocks noChangeAspect="1"/>
          </p:cNvPicPr>
          <p:nvPr/>
        </p:nvPicPr>
        <p:blipFill>
          <a:blip r:embed="rId9"/>
          <a:srcRect t="-829" b="-829"/>
          <a:stretch/>
        </p:blipFill>
        <p:spPr>
          <a:xfrm>
            <a:off x="8385048" y="3652114"/>
            <a:ext cx="75895" cy="123444"/>
          </a:xfrm>
          <a:prstGeom prst="rect">
            <a:avLst/>
          </a:prstGeom>
        </p:spPr>
      </p:pic>
      <p:pic>
        <p:nvPicPr>
          <p:cNvPr id="107" name="Image 10" descr="preencoded.png"/>
          <p:cNvPicPr>
            <a:picLocks noChangeAspect="1"/>
          </p:cNvPicPr>
          <p:nvPr/>
        </p:nvPicPr>
        <p:blipFill>
          <a:blip r:embed="rId9"/>
          <a:srcRect t="-829" b="-829"/>
          <a:stretch/>
        </p:blipFill>
        <p:spPr>
          <a:xfrm>
            <a:off x="10036454" y="3652114"/>
            <a:ext cx="75895" cy="123444"/>
          </a:xfrm>
          <a:prstGeom prst="rect">
            <a:avLst/>
          </a:prstGeom>
        </p:spPr>
      </p:pic>
      <p:pic>
        <p:nvPicPr>
          <p:cNvPr id="108" name="Image 11" descr="preencoded.png"/>
          <p:cNvPicPr>
            <a:picLocks noChangeAspect="1"/>
          </p:cNvPicPr>
          <p:nvPr/>
        </p:nvPicPr>
        <p:blipFill>
          <a:blip r:embed="rId9"/>
          <a:srcRect t="-829" b="-829"/>
          <a:stretch/>
        </p:blipFill>
        <p:spPr>
          <a:xfrm>
            <a:off x="3431743" y="4747565"/>
            <a:ext cx="75895" cy="123444"/>
          </a:xfrm>
          <a:prstGeom prst="rect">
            <a:avLst/>
          </a:prstGeom>
        </p:spPr>
      </p:pic>
      <p:pic>
        <p:nvPicPr>
          <p:cNvPr id="109" name="Image 12" descr="preencoded.png"/>
          <p:cNvPicPr>
            <a:picLocks noChangeAspect="1"/>
          </p:cNvPicPr>
          <p:nvPr/>
        </p:nvPicPr>
        <p:blipFill>
          <a:blip r:embed="rId9"/>
          <a:srcRect t="-829" b="-829"/>
          <a:stretch/>
        </p:blipFill>
        <p:spPr>
          <a:xfrm>
            <a:off x="5083150" y="4747565"/>
            <a:ext cx="75895" cy="123444"/>
          </a:xfrm>
          <a:prstGeom prst="rect">
            <a:avLst/>
          </a:prstGeom>
        </p:spPr>
      </p:pic>
      <p:pic>
        <p:nvPicPr>
          <p:cNvPr id="110" name="Image 13" descr="preencoded.png"/>
          <p:cNvPicPr>
            <a:picLocks noChangeAspect="1"/>
          </p:cNvPicPr>
          <p:nvPr/>
        </p:nvPicPr>
        <p:blipFill>
          <a:blip r:embed="rId9"/>
          <a:srcRect t="-829" b="-829"/>
          <a:stretch/>
        </p:blipFill>
        <p:spPr>
          <a:xfrm>
            <a:off x="6733642" y="4747565"/>
            <a:ext cx="75895" cy="123444"/>
          </a:xfrm>
          <a:prstGeom prst="rect">
            <a:avLst/>
          </a:prstGeom>
        </p:spPr>
      </p:pic>
      <p:pic>
        <p:nvPicPr>
          <p:cNvPr id="111" name="Image 14" descr="preencoded.png"/>
          <p:cNvPicPr>
            <a:picLocks noChangeAspect="1"/>
          </p:cNvPicPr>
          <p:nvPr/>
        </p:nvPicPr>
        <p:blipFill>
          <a:blip r:embed="rId9"/>
          <a:srcRect t="-829" b="-829"/>
          <a:stretch/>
        </p:blipFill>
        <p:spPr>
          <a:xfrm>
            <a:off x="8385048" y="4747565"/>
            <a:ext cx="75895" cy="123444"/>
          </a:xfrm>
          <a:prstGeom prst="rect">
            <a:avLst/>
          </a:prstGeom>
        </p:spPr>
      </p:pic>
      <p:pic>
        <p:nvPicPr>
          <p:cNvPr id="112" name="Image 15" descr="preencoded.png"/>
          <p:cNvPicPr>
            <a:picLocks noChangeAspect="1"/>
          </p:cNvPicPr>
          <p:nvPr/>
        </p:nvPicPr>
        <p:blipFill>
          <a:blip r:embed="rId9"/>
          <a:srcRect t="-829" b="-829"/>
          <a:stretch/>
        </p:blipFill>
        <p:spPr>
          <a:xfrm>
            <a:off x="10036454" y="4747565"/>
            <a:ext cx="75895" cy="123444"/>
          </a:xfrm>
          <a:prstGeom prst="rect">
            <a:avLst/>
          </a:prstGeom>
        </p:spPr>
      </p:pic>
      <p:sp>
        <p:nvSpPr>
          <p:cNvPr id="113" name="Shape 35">
            <a:extLst>
              <a:ext uri="{FF2B5EF4-FFF2-40B4-BE49-F238E27FC236}">
                <a16:creationId xmlns:a16="http://schemas.microsoft.com/office/drawing/2014/main" id="{7CCF3082-574A-BB7A-9233-CA6246CC8934}"/>
              </a:ext>
            </a:extLst>
          </p:cNvPr>
          <p:cNvSpPr/>
          <p:nvPr/>
        </p:nvSpPr>
        <p:spPr>
          <a:xfrm>
            <a:off x="6785849" y="2137738"/>
            <a:ext cx="1561795" cy="952805"/>
          </a:xfrm>
          <a:prstGeom prst="roundRect">
            <a:avLst>
              <a:gd name="adj" fmla="val 11516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29500" y="-1429207"/>
            <a:ext cx="5715000" cy="5715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952805" y="3524098"/>
            <a:ext cx="4762195" cy="476219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716207" y="6344107"/>
            <a:ext cx="171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2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761695" y="476402"/>
            <a:ext cx="107826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62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761695" y="758038"/>
            <a:ext cx="108585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Institutional-Grade Risk Management</a:t>
            </a:r>
            <a:endParaRPr lang="en-US" sz="3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385" r="-385"/>
          <a:stretch/>
        </p:blipFill>
        <p:spPr>
          <a:xfrm>
            <a:off x="761695" y="1370686"/>
            <a:ext cx="761695" cy="2834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61695" y="1732788"/>
            <a:ext cx="3400654" cy="2210105"/>
          </a:xfrm>
          <a:prstGeom prst="roundRect">
            <a:avLst>
              <a:gd name="adj" fmla="val 428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761695" y="1732788"/>
            <a:ext cx="3377794" cy="19202"/>
          </a:xfrm>
          <a:prstGeom prst="rect">
            <a:avLst/>
          </a:prstGeom>
          <a:solidFill>
            <a:srgbClr val="D4AF37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1009498" y="1980590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D4AF37">
              <a:alpha val="10000"/>
            </a:srgbClr>
          </a:solidFill>
          <a:ln w="12700">
            <a:solidFill>
              <a:srgbClr val="D4AF37">
                <a:alpha val="20000"/>
              </a:srgbClr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 l="-1403" r="-1403"/>
          <a:stretch/>
        </p:blipFill>
        <p:spPr>
          <a:xfrm>
            <a:off x="1119226" y="2104034"/>
            <a:ext cx="209398" cy="181051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552651" y="2084832"/>
            <a:ext cx="19156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Escrow Protection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1009498" y="2552090"/>
            <a:ext cx="29818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Funds never go directly to players. All money is held in secure escrow until specific milestones are admin-verified, ensuring 100% safety of backer capital.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4397350" y="1732788"/>
            <a:ext cx="3400654" cy="2210105"/>
          </a:xfrm>
          <a:prstGeom prst="roundRect">
            <a:avLst>
              <a:gd name="adj" fmla="val 428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4397350" y="1732788"/>
            <a:ext cx="3378708" cy="19202"/>
          </a:xfrm>
          <a:prstGeom prst="rect">
            <a:avLst/>
          </a:prstGeom>
          <a:solidFill>
            <a:srgbClr val="D4AF37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4645152" y="1980590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D4AF37">
              <a:alpha val="10000"/>
            </a:srgbClr>
          </a:solidFill>
          <a:ln w="12700">
            <a:solidFill>
              <a:srgbClr val="D4AF37">
                <a:alpha val="20000"/>
              </a:srgbClr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l="-505" r="-505"/>
          <a:stretch/>
        </p:blipFill>
        <p:spPr>
          <a:xfrm>
            <a:off x="4744822" y="2104034"/>
            <a:ext cx="228600" cy="181051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188306" y="2084832"/>
            <a:ext cx="20976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KYC Verified Players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4645152" y="2552090"/>
            <a:ext cx="29818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Identity strictly verified. Detailed tracking of player stats, ROI history, and past cash rates ensures transparency before any deal is made.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8033004" y="1732788"/>
            <a:ext cx="3400654" cy="2210105"/>
          </a:xfrm>
          <a:prstGeom prst="roundRect">
            <a:avLst>
              <a:gd name="adj" fmla="val 428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8033004" y="1732788"/>
            <a:ext cx="3377794" cy="19202"/>
          </a:xfrm>
          <a:prstGeom prst="rect">
            <a:avLst/>
          </a:prstGeom>
          <a:solidFill>
            <a:srgbClr val="D4AF37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8280806" y="1980590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D4AF37">
              <a:alpha val="10000"/>
            </a:srgbClr>
          </a:solidFill>
          <a:ln w="12700">
            <a:solidFill>
              <a:srgbClr val="D4AF37">
                <a:alpha val="20000"/>
              </a:srgbClr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rcRect t="-856" b="-856"/>
          <a:stretch/>
        </p:blipFill>
        <p:spPr>
          <a:xfrm>
            <a:off x="8428025" y="2104034"/>
            <a:ext cx="133502" cy="181051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823046" y="2084832"/>
            <a:ext cx="19275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Admin Verification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8280806" y="2552090"/>
            <a:ext cx="29818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Nothing is automated without oversight. Registration proof, tournament results, and deposits are all verified against official records by our team.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761695" y="4176065"/>
            <a:ext cx="3400654" cy="2210105"/>
          </a:xfrm>
          <a:prstGeom prst="roundRect">
            <a:avLst>
              <a:gd name="adj" fmla="val 428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761695" y="4176065"/>
            <a:ext cx="3377794" cy="19202"/>
          </a:xfrm>
          <a:prstGeom prst="rect">
            <a:avLst/>
          </a:prstGeom>
          <a:solidFill>
            <a:srgbClr val="D4AF37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1009498" y="4423867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D4AF37">
              <a:alpha val="10000"/>
            </a:srgbClr>
          </a:solidFill>
          <a:ln w="12700">
            <a:solidFill>
              <a:srgbClr val="D4AF37">
                <a:alpha val="20000"/>
              </a:srgbClr>
            </a:solidFill>
            <a:prstDash val="solid"/>
          </a:ln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rcRect l="-1082" r="-1082"/>
          <a:stretch/>
        </p:blipFill>
        <p:spPr>
          <a:xfrm>
            <a:off x="1143000" y="4547311"/>
            <a:ext cx="161849" cy="181051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552651" y="4528109"/>
            <a:ext cx="2029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Enforced Deadlines</a:t>
            </a:r>
            <a:endParaRPr lang="en-US" sz="1400" dirty="0"/>
          </a:p>
        </p:txBody>
      </p:sp>
      <p:sp>
        <p:nvSpPr>
          <p:cNvPr id="33" name="Text 24"/>
          <p:cNvSpPr txBox="1"/>
          <p:nvPr/>
        </p:nvSpPr>
        <p:spPr>
          <a:xfrm>
            <a:off x="1009498" y="4995367"/>
            <a:ext cx="29818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Strict timelines: 48h for registration, 3 days for results, 14 days for deposit. Missed deadlines trigger immediate admin review and potential penalties.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4397350" y="4176065"/>
            <a:ext cx="3400654" cy="2210105"/>
          </a:xfrm>
          <a:prstGeom prst="roundRect">
            <a:avLst>
              <a:gd name="adj" fmla="val 428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4397350" y="4176065"/>
            <a:ext cx="3378708" cy="19202"/>
          </a:xfrm>
          <a:prstGeom prst="rect">
            <a:avLst/>
          </a:prstGeom>
          <a:solidFill>
            <a:srgbClr val="D4AF37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4645152" y="4423867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D4AF37">
              <a:alpha val="10000"/>
            </a:srgbClr>
          </a:solidFill>
          <a:ln w="12700">
            <a:solidFill>
              <a:srgbClr val="D4AF37">
                <a:alpha val="20000"/>
              </a:srgbClr>
            </a:solidFill>
            <a:prstDash val="solid"/>
          </a:ln>
        </p:spPr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rcRect l="-505" r="-505"/>
          <a:stretch/>
        </p:blipFill>
        <p:spPr>
          <a:xfrm>
            <a:off x="4744822" y="4547311"/>
            <a:ext cx="228600" cy="181051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5188306" y="4528109"/>
            <a:ext cx="19156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Reliability Scoring</a:t>
            </a:r>
            <a:endParaRPr lang="en-US" sz="1400" dirty="0"/>
          </a:p>
        </p:txBody>
      </p:sp>
      <p:sp>
        <p:nvSpPr>
          <p:cNvPr id="39" name="Text 29"/>
          <p:cNvSpPr txBox="1"/>
          <p:nvPr/>
        </p:nvSpPr>
        <p:spPr>
          <a:xfrm>
            <a:off x="4645152" y="4995367"/>
            <a:ext cx="29818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Dynamic player scores based on on-time settlements versus defaults. Scores are public, creating accountability and helping backers choose wisely.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8033004" y="4176065"/>
            <a:ext cx="3400654" cy="2210105"/>
          </a:xfrm>
          <a:prstGeom prst="roundRect">
            <a:avLst>
              <a:gd name="adj" fmla="val 428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8033004" y="4176065"/>
            <a:ext cx="3377794" cy="19202"/>
          </a:xfrm>
          <a:prstGeom prst="rect">
            <a:avLst/>
          </a:prstGeom>
          <a:solidFill>
            <a:srgbClr val="D4AF37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8280806" y="4423867"/>
            <a:ext cx="428854" cy="428854"/>
          </a:xfrm>
          <a:prstGeom prst="roundRect">
            <a:avLst>
              <a:gd name="adj" fmla="val 94764"/>
            </a:avLst>
          </a:prstGeom>
          <a:solidFill>
            <a:srgbClr val="D4AF37">
              <a:alpha val="10000"/>
            </a:srgbClr>
          </a:solidFill>
          <a:ln w="12700">
            <a:solidFill>
              <a:srgbClr val="D4AF37">
                <a:alpha val="20000"/>
              </a:srgbClr>
            </a:solidFill>
            <a:prstDash val="solid"/>
          </a:ln>
        </p:spPr>
      </p:sp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1"/>
          <a:srcRect l="-1082" r="-1082"/>
          <a:stretch/>
        </p:blipFill>
        <p:spPr>
          <a:xfrm>
            <a:off x="8413394" y="4547311"/>
            <a:ext cx="161849" cy="181051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8823046" y="4528109"/>
            <a:ext cx="17455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Withdrawal Lock</a:t>
            </a:r>
            <a:endParaRPr lang="en-US" sz="1400" dirty="0"/>
          </a:p>
        </p:txBody>
      </p:sp>
      <p:sp>
        <p:nvSpPr>
          <p:cNvPr id="45" name="Text 34"/>
          <p:cNvSpPr txBox="1"/>
          <p:nvPr/>
        </p:nvSpPr>
        <p:spPr>
          <a:xfrm>
            <a:off x="8280806" y="4995367"/>
            <a:ext cx="29818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Smart contract logic prevents players from withdrawing funds while prize deposits are pending, preventing post-win escape and ensuring timely payouts.</a:t>
            </a:r>
            <a:endParaRPr lang="en-US" sz="1000" dirty="0"/>
          </a:p>
        </p:txBody>
      </p:sp>
      <p:sp>
        <p:nvSpPr>
          <p:cNvPr id="46" name="Text 35"/>
          <p:cNvSpPr txBox="1"/>
          <p:nvPr/>
        </p:nvSpPr>
        <p:spPr>
          <a:xfrm>
            <a:off x="8893454" y="381305"/>
            <a:ext cx="31747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6" dirty="0">
                <a:solidFill>
                  <a:srgbClr val="FFFFFF">
                    <a:alpha val="2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BackerHub Investor Presentation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429207" y="1904695"/>
            <a:ext cx="4762195" cy="476219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29500" y="2095805"/>
            <a:ext cx="5715000" cy="57150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718036" y="6344107"/>
            <a:ext cx="171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2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761695" y="476402"/>
            <a:ext cx="107826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62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761695" y="758038"/>
            <a:ext cx="108585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Simple, Scalable Revenue</a:t>
            </a:r>
            <a:endParaRPr lang="en-US" sz="3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385" r="-385"/>
          <a:stretch/>
        </p:blipFill>
        <p:spPr>
          <a:xfrm>
            <a:off x="761695" y="1370686"/>
            <a:ext cx="761695" cy="2834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62610" y="1565910"/>
            <a:ext cx="5048402" cy="1114654"/>
          </a:xfrm>
          <a:prstGeom prst="roundRect">
            <a:avLst>
              <a:gd name="adj" fmla="val 16828"/>
            </a:avLst>
          </a:prstGeom>
          <a:solidFill>
            <a:srgbClr val="D4AF37">
              <a:alpha val="10000"/>
            </a:srgbClr>
          </a:solidFill>
          <a:ln w="12700">
            <a:solidFill>
              <a:srgbClr val="D4AF37">
                <a:alpha val="2000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762610" y="1565910"/>
            <a:ext cx="28346" cy="1114654"/>
          </a:xfrm>
          <a:prstGeom prst="roundRect">
            <a:avLst>
              <a:gd name="adj" fmla="val 661713"/>
            </a:avLst>
          </a:prstGeom>
          <a:solidFill>
            <a:srgbClr val="D4AF37">
              <a:alpha val="20000"/>
            </a:srgbClr>
          </a:solidFill>
          <a:ln w="12700">
            <a:solidFill>
              <a:srgbClr val="D4AF37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982066" y="1766164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000000">
              <a:alpha val="60000"/>
            </a:srgbClr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1163117" y="1928013"/>
            <a:ext cx="114300" cy="15270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648664" y="1766164"/>
            <a:ext cx="174559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3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2% Platform Fee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4969765" y="1796339"/>
            <a:ext cx="647395" cy="237744"/>
          </a:xfrm>
          <a:prstGeom prst="roundRect">
            <a:avLst>
              <a:gd name="adj" fmla="val 123077"/>
            </a:avLst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4969765" y="1796339"/>
            <a:ext cx="70500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b="1" kern="0" spc="42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Primary</a:t>
            </a:r>
            <a:endParaRPr lang="en-US" sz="800" dirty="0"/>
          </a:p>
        </p:txBody>
      </p:sp>
      <p:sp>
        <p:nvSpPr>
          <p:cNvPr id="17" name="Text 11"/>
          <p:cNvSpPr txBox="1"/>
          <p:nvPr/>
        </p:nvSpPr>
        <p:spPr>
          <a:xfrm>
            <a:off x="1648664" y="2110893"/>
            <a:ext cx="40389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Applied on every backer transaction post-launch. (0% during pre-launch campaign).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762610" y="2864358"/>
            <a:ext cx="5048402" cy="1114654"/>
          </a:xfrm>
          <a:prstGeom prst="roundRect">
            <a:avLst>
              <a:gd name="adj" fmla="val 16828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962864" y="3063698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rcRect l="-33" r="-33"/>
          <a:stretch/>
        </p:blipFill>
        <p:spPr>
          <a:xfrm>
            <a:off x="1115569" y="3225546"/>
            <a:ext cx="171907" cy="15270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629461" y="3063698"/>
            <a:ext cx="178033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3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1-3% Processing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4617721" y="3094787"/>
            <a:ext cx="1000354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4617721" y="3094787"/>
            <a:ext cx="1057961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b="1" kern="0" spc="42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Pass-through</a:t>
            </a:r>
            <a:endParaRPr lang="en-US" sz="800" dirty="0"/>
          </a:p>
        </p:txBody>
      </p:sp>
      <p:sp>
        <p:nvSpPr>
          <p:cNvPr id="24" name="Text 17"/>
          <p:cNvSpPr txBox="1"/>
          <p:nvPr/>
        </p:nvSpPr>
        <p:spPr>
          <a:xfrm>
            <a:off x="1629461" y="3409341"/>
            <a:ext cx="40581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Standard fees from ECPay, LINE Pay, and other gateways passed directly to users.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762610" y="4161892"/>
            <a:ext cx="5048402" cy="1114654"/>
          </a:xfrm>
          <a:prstGeom prst="roundRect">
            <a:avLst>
              <a:gd name="adj" fmla="val 16828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962864" y="4362146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1115569" y="4523994"/>
            <a:ext cx="171907" cy="152705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629461" y="4362146"/>
            <a:ext cx="187086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3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Premium Listings</a:t>
            </a:r>
            <a:endParaRPr lang="en-US" sz="1500" dirty="0"/>
          </a:p>
        </p:txBody>
      </p:sp>
      <p:sp>
        <p:nvSpPr>
          <p:cNvPr id="29" name="Shape 21"/>
          <p:cNvSpPr/>
          <p:nvPr/>
        </p:nvSpPr>
        <p:spPr>
          <a:xfrm>
            <a:off x="4673499" y="4383177"/>
            <a:ext cx="942746" cy="256946"/>
          </a:xfrm>
          <a:prstGeom prst="roundRect">
            <a:avLst>
              <a:gd name="adj" fmla="val 10544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4673499" y="4383177"/>
            <a:ext cx="1000354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b="1" kern="0" spc="42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 (TBD)</a:t>
            </a:r>
            <a:endParaRPr lang="en-US" sz="800" dirty="0"/>
          </a:p>
        </p:txBody>
      </p:sp>
      <p:sp>
        <p:nvSpPr>
          <p:cNvPr id="31" name="Text 23"/>
          <p:cNvSpPr txBox="1"/>
          <p:nvPr/>
        </p:nvSpPr>
        <p:spPr>
          <a:xfrm>
            <a:off x="1629461" y="4706874"/>
            <a:ext cx="40581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Featured placement &amp; priority visibility in marketplace for pro players.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762610" y="5460340"/>
            <a:ext cx="5048402" cy="1114654"/>
          </a:xfrm>
          <a:prstGeom prst="roundRect">
            <a:avLst>
              <a:gd name="adj" fmla="val 16828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962864" y="5660594"/>
            <a:ext cx="476402" cy="476402"/>
          </a:xfrm>
          <a:prstGeom prst="roundRect">
            <a:avLst>
              <a:gd name="adj" fmla="val 76775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124713" y="5822442"/>
            <a:ext cx="152705" cy="152705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1629461" y="5660594"/>
            <a:ext cx="17913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3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&amp; Analytics</a:t>
            </a:r>
            <a:endParaRPr lang="en-US" sz="1500" dirty="0"/>
          </a:p>
        </p:txBody>
      </p:sp>
      <p:sp>
        <p:nvSpPr>
          <p:cNvPr id="36" name="Shape 27"/>
          <p:cNvSpPr/>
          <p:nvPr/>
        </p:nvSpPr>
        <p:spPr>
          <a:xfrm>
            <a:off x="4607662" y="5681625"/>
            <a:ext cx="1009498" cy="256946"/>
          </a:xfrm>
          <a:prstGeom prst="roundRect">
            <a:avLst>
              <a:gd name="adj" fmla="val 10544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7" name="Text 28"/>
          <p:cNvSpPr txBox="1"/>
          <p:nvPr/>
        </p:nvSpPr>
        <p:spPr>
          <a:xfrm>
            <a:off x="4607662" y="5681625"/>
            <a:ext cx="1067105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b="1" kern="0" spc="42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 Tier (TBD)</a:t>
            </a:r>
            <a:endParaRPr lang="en-US" sz="800" dirty="0"/>
          </a:p>
        </p:txBody>
      </p:sp>
      <p:sp>
        <p:nvSpPr>
          <p:cNvPr id="38" name="Text 29"/>
          <p:cNvSpPr txBox="1"/>
          <p:nvPr/>
        </p:nvSpPr>
        <p:spPr>
          <a:xfrm>
            <a:off x="1629461" y="6005322"/>
            <a:ext cx="40581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Advanced player insights and deep dive stats for serious institutional backers.</a:t>
            </a:r>
            <a:endParaRPr lang="en-US" sz="1000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rcRect l="-1" r="-1"/>
          <a:stretch/>
        </p:blipFill>
        <p:spPr>
          <a:xfrm>
            <a:off x="6192317" y="929094"/>
            <a:ext cx="5048402" cy="5640934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8706917" y="929094"/>
            <a:ext cx="2011680" cy="19202"/>
          </a:xfrm>
          <a:prstGeom prst="rect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12700" dir="16200000" algn="bl" rotWithShape="0">
              <a:srgbClr val="D4AF37">
                <a:alpha val="100000"/>
              </a:srgbClr>
            </a:outerShdw>
          </a:effectLst>
        </p:spPr>
      </p:sp>
      <p:sp>
        <p:nvSpPr>
          <p:cNvPr id="41" name="Shape 31"/>
          <p:cNvSpPr/>
          <p:nvPr/>
        </p:nvSpPr>
        <p:spPr>
          <a:xfrm>
            <a:off x="6535217" y="1996199"/>
            <a:ext cx="43626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2"/>
          <p:cNvSpPr txBox="1"/>
          <p:nvPr/>
        </p:nvSpPr>
        <p:spPr>
          <a:xfrm>
            <a:off x="6478524" y="1271994"/>
            <a:ext cx="44769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 Economics</a:t>
            </a:r>
            <a:endParaRPr lang="en-US" sz="1600" dirty="0"/>
          </a:p>
        </p:txBody>
      </p:sp>
      <p:sp>
        <p:nvSpPr>
          <p:cNvPr id="43" name="Text 33"/>
          <p:cNvSpPr txBox="1"/>
          <p:nvPr/>
        </p:nvSpPr>
        <p:spPr>
          <a:xfrm>
            <a:off x="6478524" y="1639583"/>
            <a:ext cx="44769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Example: $10,000 Buy-in Tournament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6535217" y="2874023"/>
            <a:ext cx="43626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6535217" y="2350071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BBBB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Action Sold</a:t>
            </a:r>
            <a:endParaRPr lang="en-US" sz="1100" dirty="0"/>
          </a:p>
        </p:txBody>
      </p:sp>
      <p:sp>
        <p:nvSpPr>
          <p:cNvPr id="46" name="Text 36"/>
          <p:cNvSpPr txBox="1"/>
          <p:nvPr/>
        </p:nvSpPr>
        <p:spPr>
          <a:xfrm>
            <a:off x="6535217" y="2585987"/>
            <a:ext cx="181417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Percentage of buy-in listed</a:t>
            </a:r>
            <a:endParaRPr lang="en-US" sz="900" dirty="0"/>
          </a:p>
        </p:txBody>
      </p:sp>
      <p:sp>
        <p:nvSpPr>
          <p:cNvPr id="47" name="Text 37"/>
          <p:cNvSpPr txBox="1"/>
          <p:nvPr/>
        </p:nvSpPr>
        <p:spPr>
          <a:xfrm>
            <a:off x="10591495" y="2439683"/>
            <a:ext cx="391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50%</a:t>
            </a:r>
            <a:endParaRPr lang="en-US" sz="1200" dirty="0"/>
          </a:p>
        </p:txBody>
      </p:sp>
      <p:sp>
        <p:nvSpPr>
          <p:cNvPr id="48" name="Shape 38"/>
          <p:cNvSpPr/>
          <p:nvPr/>
        </p:nvSpPr>
        <p:spPr>
          <a:xfrm>
            <a:off x="6535217" y="3519589"/>
            <a:ext cx="43626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39"/>
          <p:cNvSpPr txBox="1"/>
          <p:nvPr/>
        </p:nvSpPr>
        <p:spPr>
          <a:xfrm>
            <a:off x="6535217" y="2995638"/>
            <a:ext cx="14401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BBBB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Base Action Cost</a:t>
            </a:r>
            <a:endParaRPr lang="en-US" sz="1100" dirty="0"/>
          </a:p>
        </p:txBody>
      </p:sp>
      <p:sp>
        <p:nvSpPr>
          <p:cNvPr id="50" name="Text 40"/>
          <p:cNvSpPr txBox="1"/>
          <p:nvPr/>
        </p:nvSpPr>
        <p:spPr>
          <a:xfrm>
            <a:off x="6535217" y="3232467"/>
            <a:ext cx="147401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50% of $10,000 buy-in</a:t>
            </a:r>
            <a:endParaRPr lang="en-US" sz="900" dirty="0"/>
          </a:p>
        </p:txBody>
      </p:sp>
      <p:sp>
        <p:nvSpPr>
          <p:cNvPr id="51" name="Text 41"/>
          <p:cNvSpPr txBox="1"/>
          <p:nvPr/>
        </p:nvSpPr>
        <p:spPr>
          <a:xfrm>
            <a:off x="10376611" y="3085249"/>
            <a:ext cx="6007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$5,000</a:t>
            </a:r>
            <a:endParaRPr lang="en-US" sz="1200" dirty="0"/>
          </a:p>
        </p:txBody>
      </p:sp>
      <p:sp>
        <p:nvSpPr>
          <p:cNvPr id="52" name="Shape 42"/>
          <p:cNvSpPr/>
          <p:nvPr/>
        </p:nvSpPr>
        <p:spPr>
          <a:xfrm>
            <a:off x="6535217" y="4166070"/>
            <a:ext cx="43626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3"/>
          <p:cNvSpPr txBox="1"/>
          <p:nvPr/>
        </p:nvSpPr>
        <p:spPr>
          <a:xfrm>
            <a:off x="6535217" y="3642119"/>
            <a:ext cx="11695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BBBB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Player Markup</a:t>
            </a:r>
            <a:endParaRPr lang="en-US" sz="1100" dirty="0"/>
          </a:p>
        </p:txBody>
      </p:sp>
      <p:sp>
        <p:nvSpPr>
          <p:cNvPr id="54" name="Text 44"/>
          <p:cNvSpPr txBox="1"/>
          <p:nvPr/>
        </p:nvSpPr>
        <p:spPr>
          <a:xfrm>
            <a:off x="6535217" y="3878034"/>
            <a:ext cx="113751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1.15x Multiplier</a:t>
            </a:r>
            <a:endParaRPr lang="en-US" sz="900" dirty="0"/>
          </a:p>
        </p:txBody>
      </p:sp>
      <p:sp>
        <p:nvSpPr>
          <p:cNvPr id="55" name="Text 45"/>
          <p:cNvSpPr txBox="1"/>
          <p:nvPr/>
        </p:nvSpPr>
        <p:spPr>
          <a:xfrm>
            <a:off x="10436047" y="3730815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ADE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+$750</a:t>
            </a:r>
            <a:endParaRPr lang="en-US" sz="1200" dirty="0"/>
          </a:p>
        </p:txBody>
      </p:sp>
      <p:sp>
        <p:nvSpPr>
          <p:cNvPr id="56" name="Shape 46"/>
          <p:cNvSpPr/>
          <p:nvPr/>
        </p:nvSpPr>
        <p:spPr>
          <a:xfrm>
            <a:off x="6202375" y="4173385"/>
            <a:ext cx="5029200" cy="657454"/>
          </a:xfrm>
          <a:prstGeom prst="rect">
            <a:avLst/>
          </a:prstGeom>
          <a:solidFill>
            <a:srgbClr val="D4AF37">
              <a:alpha val="5000"/>
            </a:srgbClr>
          </a:solidFill>
          <a:ln w="12700">
            <a:solidFill>
              <a:srgbClr val="D4AF37">
                <a:alpha val="20000"/>
              </a:srgbClr>
            </a:solidFill>
            <a:prstDash val="solid"/>
          </a:ln>
        </p:spPr>
      </p:sp>
      <p:sp>
        <p:nvSpPr>
          <p:cNvPr id="57" name="Text 47"/>
          <p:cNvSpPr txBox="1"/>
          <p:nvPr/>
        </p:nvSpPr>
        <p:spPr>
          <a:xfrm>
            <a:off x="6535217" y="4296829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Platform Fee</a:t>
            </a:r>
            <a:endParaRPr lang="en-US" sz="1100" dirty="0"/>
          </a:p>
        </p:txBody>
      </p:sp>
      <p:sp>
        <p:nvSpPr>
          <p:cNvPr id="58" name="Text 48"/>
          <p:cNvSpPr txBox="1"/>
          <p:nvPr/>
        </p:nvSpPr>
        <p:spPr>
          <a:xfrm>
            <a:off x="6535217" y="4533659"/>
            <a:ext cx="15197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2% of total transaction</a:t>
            </a:r>
            <a:endParaRPr lang="en-US" sz="900" dirty="0"/>
          </a:p>
        </p:txBody>
      </p:sp>
      <p:sp>
        <p:nvSpPr>
          <p:cNvPr id="59" name="Text 49"/>
          <p:cNvSpPr txBox="1"/>
          <p:nvPr/>
        </p:nvSpPr>
        <p:spPr>
          <a:xfrm>
            <a:off x="10481767" y="4386440"/>
            <a:ext cx="495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+$115</a:t>
            </a:r>
            <a:endParaRPr lang="en-US" sz="1200" dirty="0"/>
          </a:p>
        </p:txBody>
      </p:sp>
      <p:sp>
        <p:nvSpPr>
          <p:cNvPr id="60" name="Shape 50"/>
          <p:cNvSpPr/>
          <p:nvPr/>
        </p:nvSpPr>
        <p:spPr>
          <a:xfrm>
            <a:off x="6535217" y="4924107"/>
            <a:ext cx="4362602" cy="1920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1"/>
          <p:cNvSpPr txBox="1"/>
          <p:nvPr/>
        </p:nvSpPr>
        <p:spPr>
          <a:xfrm>
            <a:off x="6535217" y="5108816"/>
            <a:ext cx="195041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Total Cost to Backer</a:t>
            </a:r>
            <a:endParaRPr lang="en-US" sz="1300" dirty="0"/>
          </a:p>
        </p:txBody>
      </p:sp>
      <p:sp>
        <p:nvSpPr>
          <p:cNvPr id="62" name="Text 52"/>
          <p:cNvSpPr txBox="1"/>
          <p:nvPr/>
        </p:nvSpPr>
        <p:spPr>
          <a:xfrm>
            <a:off x="10240365" y="5085956"/>
            <a:ext cx="76443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$5,865</a:t>
            </a:r>
            <a:endParaRPr lang="en-US" sz="1500" dirty="0"/>
          </a:p>
        </p:txBody>
      </p:sp>
      <p:sp>
        <p:nvSpPr>
          <p:cNvPr id="63" name="Shape 53"/>
          <p:cNvSpPr/>
          <p:nvPr/>
        </p:nvSpPr>
        <p:spPr>
          <a:xfrm>
            <a:off x="6535217" y="5620880"/>
            <a:ext cx="4362602" cy="609905"/>
          </a:xfrm>
          <a:prstGeom prst="roundRect">
            <a:avLst>
              <a:gd name="adj" fmla="val 37481"/>
            </a:avLst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54"/>
          <p:cNvSpPr txBox="1"/>
          <p:nvPr/>
        </p:nvSpPr>
        <p:spPr>
          <a:xfrm>
            <a:off x="6677863" y="5821134"/>
            <a:ext cx="199705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4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BackerHub Net Revenue</a:t>
            </a:r>
            <a:endParaRPr lang="en-US" sz="1000" dirty="0"/>
          </a:p>
        </p:txBody>
      </p:sp>
      <p:sp>
        <p:nvSpPr>
          <p:cNvPr id="65" name="Text 55"/>
          <p:cNvSpPr txBox="1"/>
          <p:nvPr/>
        </p:nvSpPr>
        <p:spPr>
          <a:xfrm>
            <a:off x="9967874" y="5763527"/>
            <a:ext cx="94091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$115.00</a:t>
            </a:r>
            <a:endParaRPr lang="en-US" sz="1600" dirty="0"/>
          </a:p>
        </p:txBody>
      </p:sp>
      <p:sp>
        <p:nvSpPr>
          <p:cNvPr id="66" name="Text 56"/>
          <p:cNvSpPr txBox="1"/>
          <p:nvPr/>
        </p:nvSpPr>
        <p:spPr>
          <a:xfrm>
            <a:off x="8256118" y="476402"/>
            <a:ext cx="31747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96" dirty="0">
                <a:solidFill>
                  <a:srgbClr val="FFFFFF">
                    <a:alpha val="2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BackerHub Investor Presentation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6" r="-6"/>
          <a:stretch/>
        </p:blipFill>
        <p:spPr>
          <a:xfrm>
            <a:off x="2286000" y="-952805"/>
            <a:ext cx="7619695" cy="190469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82305" y="3524098"/>
            <a:ext cx="4762195" cy="476219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649456" y="6344107"/>
            <a:ext cx="238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2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761695" y="476402"/>
            <a:ext cx="107826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62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761695" y="758038"/>
            <a:ext cx="108585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Revenue Model Deep Dive</a:t>
            </a:r>
            <a:endParaRPr lang="en-US" sz="3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385" r="-385"/>
          <a:stretch/>
        </p:blipFill>
        <p:spPr>
          <a:xfrm>
            <a:off x="761695" y="1370686"/>
            <a:ext cx="761695" cy="2834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61695" y="2171700"/>
            <a:ext cx="45912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61695" y="1732788"/>
            <a:ext cx="4705502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Fee Comparison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761695" y="2371039"/>
            <a:ext cx="4591202" cy="4200754"/>
          </a:xfrm>
          <a:prstGeom prst="roundRect">
            <a:avLst>
              <a:gd name="adj" fmla="val 118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009498" y="2617927"/>
            <a:ext cx="4095598" cy="800100"/>
          </a:xfrm>
          <a:prstGeom prst="roundRect">
            <a:avLst>
              <a:gd name="adj" fmla="val 21769"/>
            </a:avLst>
          </a:prstGeom>
          <a:solidFill>
            <a:srgbClr val="D4AF37">
              <a:alpha val="10000"/>
            </a:srgbClr>
          </a:solidFill>
          <a:ln w="12700">
            <a:solidFill>
              <a:srgbClr val="D4AF37">
                <a:alpha val="30000"/>
              </a:srgbClr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l="-7143" r="-7143"/>
          <a:stretch/>
        </p:blipFill>
        <p:spPr>
          <a:xfrm>
            <a:off x="1162202" y="2862072"/>
            <a:ext cx="304495" cy="30449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580998" y="2862072"/>
            <a:ext cx="97109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BackerHub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4273906" y="2770632"/>
            <a:ext cx="80558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2% Flat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1009498" y="3600907"/>
            <a:ext cx="4095598" cy="733349"/>
          </a:xfrm>
          <a:prstGeom prst="roundRect">
            <a:avLst>
              <a:gd name="adj" fmla="val 25909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 l="-16667" r="-16667"/>
          <a:stretch/>
        </p:blipFill>
        <p:spPr>
          <a:xfrm>
            <a:off x="1152144" y="3813048"/>
            <a:ext cx="304495" cy="30449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571854" y="3813048"/>
            <a:ext cx="10762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StakeKings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4091026" y="3744468"/>
            <a:ext cx="9436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1-10%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3926434" y="4015130"/>
            <a:ext cx="10323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Variable/Hidden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1009498" y="4519879"/>
            <a:ext cx="4095598" cy="733349"/>
          </a:xfrm>
          <a:prstGeom prst="roundRect">
            <a:avLst>
              <a:gd name="adj" fmla="val 25909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l="-30000" r="-30000"/>
          <a:stretch/>
        </p:blipFill>
        <p:spPr>
          <a:xfrm>
            <a:off x="1152144" y="4731106"/>
            <a:ext cx="304495" cy="30449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571854" y="4731106"/>
            <a:ext cx="107624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PokerStake</a:t>
            </a:r>
            <a:endParaRPr lang="en-US" sz="1300" dirty="0"/>
          </a:p>
        </p:txBody>
      </p:sp>
      <p:sp>
        <p:nvSpPr>
          <p:cNvPr id="25" name="Text 17"/>
          <p:cNvSpPr txBox="1"/>
          <p:nvPr/>
        </p:nvSpPr>
        <p:spPr>
          <a:xfrm>
            <a:off x="3965753" y="4662526"/>
            <a:ext cx="118414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Undisclosed</a:t>
            </a:r>
            <a:endParaRPr lang="en-US" sz="1300" dirty="0"/>
          </a:p>
        </p:txBody>
      </p:sp>
      <p:sp>
        <p:nvSpPr>
          <p:cNvPr id="26" name="Text 18"/>
          <p:cNvSpPr txBox="1"/>
          <p:nvPr/>
        </p:nvSpPr>
        <p:spPr>
          <a:xfrm>
            <a:off x="3889858" y="4933188"/>
            <a:ext cx="10771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Opaque Model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5824728" y="2171700"/>
            <a:ext cx="560984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5824728" y="1732788"/>
            <a:ext cx="5725058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Backer Money Goes</a:t>
            </a:r>
            <a:endParaRPr lang="en-US" sz="1800" dirty="0"/>
          </a:p>
        </p:txBody>
      </p:sp>
      <p:sp>
        <p:nvSpPr>
          <p:cNvPr id="29" name="Text 21"/>
          <p:cNvSpPr txBox="1"/>
          <p:nvPr/>
        </p:nvSpPr>
        <p:spPr>
          <a:xfrm>
            <a:off x="4168750" y="3087014"/>
            <a:ext cx="7818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F37">
                    <a:alpha val="8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Transparent</a:t>
            </a:r>
            <a:endParaRPr 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1009498" y="5437937"/>
            <a:ext cx="4095598" cy="733349"/>
          </a:xfrm>
          <a:prstGeom prst="roundRect">
            <a:avLst>
              <a:gd name="adj" fmla="val 25909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>
            <a:alphaModFix amt="70000"/>
          </a:blip>
          <a:srcRect/>
          <a:stretch/>
        </p:blipFill>
        <p:spPr>
          <a:xfrm>
            <a:off x="1152144" y="5649163"/>
            <a:ext cx="304495" cy="304495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1571854" y="5649163"/>
            <a:ext cx="85039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8F8">
                    <a:alpha val="7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Operator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4262933" y="5580583"/>
            <a:ext cx="7717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AAAAA">
                    <a:alpha val="7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N/A</a:t>
            </a:r>
            <a:endParaRPr lang="en-US" sz="1300" dirty="0"/>
          </a:p>
        </p:txBody>
      </p:sp>
      <p:sp>
        <p:nvSpPr>
          <p:cNvPr id="34" name="Text 25"/>
          <p:cNvSpPr txBox="1"/>
          <p:nvPr/>
        </p:nvSpPr>
        <p:spPr>
          <a:xfrm>
            <a:off x="4130345" y="5851246"/>
            <a:ext cx="82753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>
                    <a:alpha val="7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Staking Only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5824728" y="2371039"/>
            <a:ext cx="5609844" cy="4200754"/>
          </a:xfrm>
          <a:prstGeom prst="roundRect">
            <a:avLst>
              <a:gd name="adj" fmla="val 1185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rcRect l="-90" r="-90"/>
          <a:stretch/>
        </p:blipFill>
        <p:spPr>
          <a:xfrm>
            <a:off x="6072530" y="2617927"/>
            <a:ext cx="5115154" cy="2667305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8177479" y="3700577"/>
            <a:ext cx="9070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Total Backed</a:t>
            </a:r>
            <a:endParaRPr lang="en-US" sz="900" dirty="0"/>
          </a:p>
        </p:txBody>
      </p:sp>
      <p:sp>
        <p:nvSpPr>
          <p:cNvPr id="38" name="Text 28"/>
          <p:cNvSpPr txBox="1"/>
          <p:nvPr/>
        </p:nvSpPr>
        <p:spPr>
          <a:xfrm>
            <a:off x="8212226" y="3883457"/>
            <a:ext cx="8385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$5,965</a:t>
            </a:r>
            <a:endParaRPr lang="en-US" sz="1600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1"/>
          <a:srcRect l="-9" r="-9"/>
          <a:stretch/>
        </p:blipFill>
        <p:spPr>
          <a:xfrm>
            <a:off x="6072530" y="5475427"/>
            <a:ext cx="1608430" cy="845820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6215177" y="5589727"/>
            <a:ext cx="14292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Player Action</a:t>
            </a:r>
            <a:endParaRPr lang="en-US" sz="900" dirty="0"/>
          </a:p>
        </p:txBody>
      </p:sp>
      <p:sp>
        <p:nvSpPr>
          <p:cNvPr id="41" name="Text 30"/>
          <p:cNvSpPr txBox="1"/>
          <p:nvPr/>
        </p:nvSpPr>
        <p:spPr>
          <a:xfrm>
            <a:off x="6215177" y="5800039"/>
            <a:ext cx="1429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96.3%</a:t>
            </a:r>
            <a:endParaRPr lang="en-US" sz="1200" dirty="0"/>
          </a:p>
        </p:txBody>
      </p:sp>
      <p:sp>
        <p:nvSpPr>
          <p:cNvPr id="42" name="Text 31"/>
          <p:cNvSpPr txBox="1"/>
          <p:nvPr/>
        </p:nvSpPr>
        <p:spPr>
          <a:xfrm>
            <a:off x="6215177" y="6046927"/>
            <a:ext cx="14630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$5,750 (Base + Markup)</a:t>
            </a:r>
            <a:endParaRPr lang="en-US" sz="800" dirty="0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2"/>
          <a:srcRect l="-9" r="-9"/>
          <a:stretch/>
        </p:blipFill>
        <p:spPr>
          <a:xfrm>
            <a:off x="7823606" y="5475427"/>
            <a:ext cx="1608430" cy="845820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7966253" y="5589727"/>
            <a:ext cx="14292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Platform Fee</a:t>
            </a:r>
            <a:endParaRPr lang="en-US" sz="900" dirty="0"/>
          </a:p>
        </p:txBody>
      </p:sp>
      <p:sp>
        <p:nvSpPr>
          <p:cNvPr id="45" name="Text 33"/>
          <p:cNvSpPr txBox="1"/>
          <p:nvPr/>
        </p:nvSpPr>
        <p:spPr>
          <a:xfrm>
            <a:off x="7966253" y="5800039"/>
            <a:ext cx="1429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2.0%</a:t>
            </a:r>
            <a:endParaRPr lang="en-US" sz="1200" dirty="0"/>
          </a:p>
        </p:txBody>
      </p:sp>
      <p:sp>
        <p:nvSpPr>
          <p:cNvPr id="46" name="Text 34"/>
          <p:cNvSpPr txBox="1"/>
          <p:nvPr/>
        </p:nvSpPr>
        <p:spPr>
          <a:xfrm>
            <a:off x="7966253" y="6046927"/>
            <a:ext cx="14292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$115 Revenue</a:t>
            </a:r>
            <a:endParaRPr lang="en-US" sz="800" dirty="0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3"/>
          <a:srcRect l="-9" r="-9"/>
          <a:stretch/>
        </p:blipFill>
        <p:spPr>
          <a:xfrm>
            <a:off x="9573768" y="5475427"/>
            <a:ext cx="1608430" cy="845820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9717329" y="5589727"/>
            <a:ext cx="14292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Processing</a:t>
            </a:r>
            <a:endParaRPr lang="en-US" sz="900" dirty="0"/>
          </a:p>
        </p:txBody>
      </p:sp>
      <p:sp>
        <p:nvSpPr>
          <p:cNvPr id="49" name="Text 36"/>
          <p:cNvSpPr txBox="1"/>
          <p:nvPr/>
        </p:nvSpPr>
        <p:spPr>
          <a:xfrm>
            <a:off x="9717329" y="5800039"/>
            <a:ext cx="1429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1.7%</a:t>
            </a:r>
            <a:endParaRPr lang="en-US" sz="1200" dirty="0"/>
          </a:p>
        </p:txBody>
      </p:sp>
      <p:sp>
        <p:nvSpPr>
          <p:cNvPr id="50" name="Text 37"/>
          <p:cNvSpPr txBox="1"/>
          <p:nvPr/>
        </p:nvSpPr>
        <p:spPr>
          <a:xfrm>
            <a:off x="9717329" y="6046927"/>
            <a:ext cx="14292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~$100 Pass-through</a:t>
            </a:r>
            <a:endParaRPr lang="en-US" sz="800" dirty="0"/>
          </a:p>
        </p:txBody>
      </p:sp>
      <p:sp>
        <p:nvSpPr>
          <p:cNvPr id="51" name="Text 38"/>
          <p:cNvSpPr txBox="1"/>
          <p:nvPr/>
        </p:nvSpPr>
        <p:spPr>
          <a:xfrm>
            <a:off x="8512150" y="476402"/>
            <a:ext cx="31747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6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BackerHub Investor Presentation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2438705" y="-1429207"/>
            <a:ext cx="7619695" cy="28575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683289" y="6344107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2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61695" y="476402"/>
            <a:ext cx="107826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62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Competitive Landscape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61695" y="758038"/>
            <a:ext cx="108585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Asia-Focused Competitor Exists</a:t>
            </a:r>
            <a:endParaRPr lang="en-US" sz="3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1370686"/>
            <a:ext cx="761695" cy="2834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61695" y="1827886"/>
            <a:ext cx="2790749" cy="76169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761695" y="2580437"/>
            <a:ext cx="2790749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61695" y="1827886"/>
            <a:ext cx="2867558" cy="6108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4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817413" y="1827886"/>
            <a:ext cx="1867205" cy="76169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5817413" y="2580437"/>
            <a:ext cx="18672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779922" y="1827886"/>
            <a:ext cx="1942186" cy="6108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StakeKings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694676" y="1827886"/>
            <a:ext cx="1867205" cy="76169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7694676" y="2580437"/>
            <a:ext cx="18672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657186" y="1827886"/>
            <a:ext cx="1942186" cy="6108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PokerStake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9571939" y="1827886"/>
            <a:ext cx="1867205" cy="76169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9571939" y="2580437"/>
            <a:ext cx="18672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9534449" y="1827886"/>
            <a:ext cx="1942186" cy="6108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GGPoker</a:t>
            </a:r>
            <a:endParaRPr lang="en-US" sz="13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l="-4" r="-4"/>
          <a:stretch/>
        </p:blipFill>
        <p:spPr>
          <a:xfrm>
            <a:off x="3567989" y="1827886"/>
            <a:ext cx="7862011" cy="45720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528670" y="1827886"/>
            <a:ext cx="2318918" cy="762610"/>
          </a:xfrm>
          <a:prstGeom prst="rect">
            <a:avLst/>
          </a:prstGeom>
          <a:solidFill>
            <a:srgbClr val="D4AF37">
              <a:alpha val="10000"/>
            </a:srgbClr>
          </a:solidFill>
          <a:ln w="38100">
            <a:solidFill>
              <a:srgbClr val="D4AF37"/>
            </a:solidFill>
          </a:ln>
        </p:spPr>
        <p:txBody>
          <a:bodyPr wrap="square" lIns="139700" tIns="139700" rIns="139700" bIns="1397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BackerHub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724205" y="2608783"/>
            <a:ext cx="2867558" cy="609905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</a:ln>
        </p:spPr>
        <p:txBody>
          <a:bodyPr wrap="square" lIns="292100" tIns="101600" rIns="101600" bIns="1016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Asia Focus &amp; Language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567989" y="2608783"/>
            <a:ext cx="2238451" cy="609905"/>
          </a:xfrm>
          <a:prstGeom prst="rect">
            <a:avLst/>
          </a:prstGeom>
          <a:noFill/>
          <a:ln w="12700">
            <a:solidFill>
              <a:srgbClr val="D4AF37">
                <a:alpha val="10000"/>
              </a:srgbClr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 l="-1082" r="-1082"/>
          <a:stretch/>
        </p:blipFill>
        <p:spPr>
          <a:xfrm>
            <a:off x="4602175" y="2703881"/>
            <a:ext cx="161849" cy="181051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178808" y="2923337"/>
            <a:ext cx="10094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F37">
                    <a:alpha val="9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Market Leader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5817413" y="2608783"/>
            <a:ext cx="1867205" cy="609905"/>
          </a:xfrm>
          <a:prstGeom prst="rect">
            <a:avLst/>
          </a:prstGeom>
          <a:solidFill>
            <a:srgbClr val="FFFFFF">
              <a:alpha val="1000"/>
            </a:srgbClr>
          </a:solidFill>
          <a:ln/>
        </p:spPr>
      </p:sp>
      <p:sp>
        <p:nvSpPr>
          <p:cNvPr id="28" name="Shape 22"/>
          <p:cNvSpPr/>
          <p:nvPr/>
        </p:nvSpPr>
        <p:spPr>
          <a:xfrm>
            <a:off x="5817413" y="3209544"/>
            <a:ext cx="18672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 t="-2222" b="-2222"/>
          <a:stretch/>
        </p:blipFill>
        <p:spPr>
          <a:xfrm>
            <a:off x="6684264" y="2708453"/>
            <a:ext cx="123444" cy="171907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370625" y="2918765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US/EU Only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7694676" y="2608783"/>
            <a:ext cx="1867205" cy="609905"/>
          </a:xfrm>
          <a:prstGeom prst="rect">
            <a:avLst/>
          </a:prstGeom>
          <a:solidFill>
            <a:srgbClr val="FFFFFF">
              <a:alpha val="1000"/>
            </a:srgbClr>
          </a:solidFill>
          <a:ln/>
        </p:spPr>
      </p:sp>
      <p:sp>
        <p:nvSpPr>
          <p:cNvPr id="32" name="Shape 25"/>
          <p:cNvSpPr/>
          <p:nvPr/>
        </p:nvSpPr>
        <p:spPr>
          <a:xfrm>
            <a:off x="7694676" y="3209544"/>
            <a:ext cx="18672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7"/>
          <a:srcRect t="-2222" b="-2222"/>
          <a:stretch/>
        </p:blipFill>
        <p:spPr>
          <a:xfrm>
            <a:off x="8561527" y="2708453"/>
            <a:ext cx="123444" cy="171907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290865" y="2918765"/>
            <a:ext cx="6693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Global/EU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9571939" y="2608783"/>
            <a:ext cx="1867205" cy="609905"/>
          </a:xfrm>
          <a:prstGeom prst="rect">
            <a:avLst/>
          </a:prstGeom>
          <a:solidFill>
            <a:srgbClr val="FFFFFF">
              <a:alpha val="1000"/>
            </a:srgbClr>
          </a:solidFill>
          <a:ln/>
        </p:spPr>
      </p:sp>
      <p:sp>
        <p:nvSpPr>
          <p:cNvPr id="36" name="Shape 28"/>
          <p:cNvSpPr/>
          <p:nvPr/>
        </p:nvSpPr>
        <p:spPr>
          <a:xfrm>
            <a:off x="9571939" y="3209544"/>
            <a:ext cx="18672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10434218" y="2718511"/>
            <a:ext cx="133502" cy="152705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0276027" y="2908706"/>
            <a:ext cx="457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Partial</a:t>
            </a:r>
            <a:endParaRPr lang="en-US" sz="900" dirty="0"/>
          </a:p>
        </p:txBody>
      </p:sp>
      <p:sp>
        <p:nvSpPr>
          <p:cNvPr id="39" name="Text 30"/>
          <p:cNvSpPr txBox="1"/>
          <p:nvPr/>
        </p:nvSpPr>
        <p:spPr>
          <a:xfrm>
            <a:off x="724205" y="3229661"/>
            <a:ext cx="2867558" cy="609905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</a:ln>
        </p:spPr>
        <p:txBody>
          <a:bodyPr wrap="square" lIns="292100" tIns="101600" rIns="101600" bIns="1016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Local Payments (TW/HK)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3567989" y="3229661"/>
            <a:ext cx="2238451" cy="609905"/>
          </a:xfrm>
          <a:prstGeom prst="rect">
            <a:avLst/>
          </a:prstGeom>
          <a:noFill/>
          <a:ln w="12700">
            <a:solidFill>
              <a:srgbClr val="D4AF37">
                <a:alpha val="10000"/>
              </a:srgbClr>
            </a:solidFill>
            <a:prstDash val="solid"/>
          </a:ln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6"/>
          <a:srcRect l="-1082" r="-1082"/>
          <a:stretch/>
        </p:blipFill>
        <p:spPr>
          <a:xfrm>
            <a:off x="4602175" y="3324758"/>
            <a:ext cx="161849" cy="181051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4052621" y="3544214"/>
            <a:ext cx="12701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F37">
                    <a:alpha val="9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Native Integration</a:t>
            </a:r>
            <a:endParaRPr lang="en-US" sz="900" dirty="0"/>
          </a:p>
        </p:txBody>
      </p:sp>
      <p:sp>
        <p:nvSpPr>
          <p:cNvPr id="43" name="Shape 33"/>
          <p:cNvSpPr/>
          <p:nvPr/>
        </p:nvSpPr>
        <p:spPr>
          <a:xfrm>
            <a:off x="5817413" y="3229661"/>
            <a:ext cx="1867205" cy="609905"/>
          </a:xfrm>
          <a:prstGeom prst="rect">
            <a:avLst/>
          </a:prstGeom>
          <a:solidFill>
            <a:srgbClr val="FFFFFF">
              <a:alpha val="1000"/>
            </a:srgbClr>
          </a:solidFill>
          <a:ln/>
        </p:spPr>
      </p:sp>
      <p:sp>
        <p:nvSpPr>
          <p:cNvPr id="44" name="Shape 34"/>
          <p:cNvSpPr/>
          <p:nvPr/>
        </p:nvSpPr>
        <p:spPr>
          <a:xfrm>
            <a:off x="5817413" y="3830422"/>
            <a:ext cx="18672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7"/>
          <a:srcRect t="-2222" b="-2222"/>
          <a:stretch/>
        </p:blipFill>
        <p:spPr>
          <a:xfrm>
            <a:off x="6684264" y="3330245"/>
            <a:ext cx="123444" cy="171907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6085332" y="3539642"/>
            <a:ext cx="132679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Credit Card/Crypto</a:t>
            </a:r>
            <a:endParaRPr lang="en-US" sz="900" dirty="0"/>
          </a:p>
        </p:txBody>
      </p:sp>
      <p:sp>
        <p:nvSpPr>
          <p:cNvPr id="47" name="Shape 36"/>
          <p:cNvSpPr/>
          <p:nvPr/>
        </p:nvSpPr>
        <p:spPr>
          <a:xfrm>
            <a:off x="7694676" y="3229661"/>
            <a:ext cx="1867205" cy="609905"/>
          </a:xfrm>
          <a:prstGeom prst="rect">
            <a:avLst/>
          </a:prstGeom>
          <a:solidFill>
            <a:srgbClr val="FFFFFF">
              <a:alpha val="1000"/>
            </a:srgbClr>
          </a:solidFill>
          <a:ln/>
        </p:spPr>
      </p:sp>
      <p:sp>
        <p:nvSpPr>
          <p:cNvPr id="48" name="Shape 37"/>
          <p:cNvSpPr/>
          <p:nvPr/>
        </p:nvSpPr>
        <p:spPr>
          <a:xfrm>
            <a:off x="7694676" y="3830422"/>
            <a:ext cx="18672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7"/>
          <a:srcRect t="-2222" b="-2222"/>
          <a:stretch/>
        </p:blipFill>
        <p:spPr>
          <a:xfrm>
            <a:off x="8561527" y="3330245"/>
            <a:ext cx="123444" cy="171907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8364017" y="3539642"/>
            <a:ext cx="5221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Limited</a:t>
            </a:r>
            <a:endParaRPr lang="en-US" sz="900" dirty="0"/>
          </a:p>
        </p:txBody>
      </p:sp>
      <p:sp>
        <p:nvSpPr>
          <p:cNvPr id="51" name="Shape 39"/>
          <p:cNvSpPr/>
          <p:nvPr/>
        </p:nvSpPr>
        <p:spPr>
          <a:xfrm>
            <a:off x="9571939" y="3229661"/>
            <a:ext cx="1867205" cy="609905"/>
          </a:xfrm>
          <a:prstGeom prst="rect">
            <a:avLst/>
          </a:prstGeom>
          <a:solidFill>
            <a:srgbClr val="FFFFFF">
              <a:alpha val="1000"/>
            </a:srgbClr>
          </a:solidFill>
          <a:ln/>
        </p:spPr>
      </p:sp>
      <p:sp>
        <p:nvSpPr>
          <p:cNvPr id="52" name="Shape 40"/>
          <p:cNvSpPr/>
          <p:nvPr/>
        </p:nvSpPr>
        <p:spPr>
          <a:xfrm>
            <a:off x="9571939" y="3830422"/>
            <a:ext cx="18672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3" name="Image 10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10434218" y="3339389"/>
            <a:ext cx="133502" cy="152705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10086746" y="3529584"/>
            <a:ext cx="8385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 Based</a:t>
            </a:r>
            <a:endParaRPr lang="en-US" sz="900" dirty="0"/>
          </a:p>
        </p:txBody>
      </p:sp>
      <p:sp>
        <p:nvSpPr>
          <p:cNvPr id="55" name="Text 42"/>
          <p:cNvSpPr txBox="1"/>
          <p:nvPr/>
        </p:nvSpPr>
        <p:spPr>
          <a:xfrm>
            <a:off x="724205" y="3850538"/>
            <a:ext cx="2867558" cy="609905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</a:ln>
        </p:spPr>
        <p:txBody>
          <a:bodyPr wrap="square" lIns="292100" tIns="101600" rIns="101600" bIns="1016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Escrow Protection</a:t>
            </a:r>
            <a:endParaRPr lang="en-US" sz="1100" dirty="0"/>
          </a:p>
        </p:txBody>
      </p:sp>
      <p:sp>
        <p:nvSpPr>
          <p:cNvPr id="56" name="Shape 43"/>
          <p:cNvSpPr/>
          <p:nvPr/>
        </p:nvSpPr>
        <p:spPr>
          <a:xfrm>
            <a:off x="3567989" y="3850538"/>
            <a:ext cx="2238451" cy="609905"/>
          </a:xfrm>
          <a:prstGeom prst="rect">
            <a:avLst/>
          </a:prstGeom>
          <a:noFill/>
          <a:ln w="12700">
            <a:solidFill>
              <a:srgbClr val="D4AF37">
                <a:alpha val="10000"/>
              </a:srgbClr>
            </a:solidFill>
            <a:prstDash val="solid"/>
          </a:ln>
        </p:spPr>
      </p:sp>
      <p:pic>
        <p:nvPicPr>
          <p:cNvPr id="57" name="Image 11" descr="preencoded.png"/>
          <p:cNvPicPr>
            <a:picLocks noChangeAspect="1"/>
          </p:cNvPicPr>
          <p:nvPr/>
        </p:nvPicPr>
        <p:blipFill>
          <a:blip r:embed="rId6"/>
          <a:srcRect l="-1082" r="-1082"/>
          <a:stretch/>
        </p:blipFill>
        <p:spPr>
          <a:xfrm>
            <a:off x="4602175" y="3946550"/>
            <a:ext cx="161849" cy="181051"/>
          </a:xfrm>
          <a:prstGeom prst="rect">
            <a:avLst/>
          </a:prstGeom>
        </p:spPr>
      </p:pic>
      <p:sp>
        <p:nvSpPr>
          <p:cNvPr id="58" name="Text 44"/>
          <p:cNvSpPr txBox="1"/>
          <p:nvPr/>
        </p:nvSpPr>
        <p:spPr>
          <a:xfrm>
            <a:off x="4177894" y="4165092"/>
            <a:ext cx="10204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F37">
                    <a:alpha val="9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Admin Verified</a:t>
            </a:r>
            <a:endParaRPr lang="en-US" sz="900" dirty="0"/>
          </a:p>
        </p:txBody>
      </p:sp>
      <p:sp>
        <p:nvSpPr>
          <p:cNvPr id="59" name="Shape 45"/>
          <p:cNvSpPr/>
          <p:nvPr/>
        </p:nvSpPr>
        <p:spPr>
          <a:xfrm>
            <a:off x="5817413" y="3850538"/>
            <a:ext cx="1867205" cy="609905"/>
          </a:xfrm>
          <a:prstGeom prst="rect">
            <a:avLst/>
          </a:prstGeom>
          <a:solidFill>
            <a:srgbClr val="FFFFFF">
              <a:alpha val="1000"/>
            </a:srgbClr>
          </a:solidFill>
          <a:ln/>
        </p:spPr>
      </p:sp>
      <p:sp>
        <p:nvSpPr>
          <p:cNvPr id="60" name="Shape 46"/>
          <p:cNvSpPr/>
          <p:nvPr/>
        </p:nvSpPr>
        <p:spPr>
          <a:xfrm>
            <a:off x="5817413" y="4451299"/>
            <a:ext cx="18672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1" name="Image 12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6679692" y="3960266"/>
            <a:ext cx="133502" cy="152705"/>
          </a:xfrm>
          <a:prstGeom prst="rect">
            <a:avLst/>
          </a:prstGeom>
        </p:spPr>
      </p:pic>
      <p:sp>
        <p:nvSpPr>
          <p:cNvPr id="62" name="Text 47"/>
          <p:cNvSpPr txBox="1"/>
          <p:nvPr/>
        </p:nvSpPr>
        <p:spPr>
          <a:xfrm>
            <a:off x="6521501" y="4151376"/>
            <a:ext cx="457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Partial</a:t>
            </a:r>
            <a:endParaRPr lang="en-US" sz="900" dirty="0"/>
          </a:p>
        </p:txBody>
      </p:sp>
      <p:sp>
        <p:nvSpPr>
          <p:cNvPr id="63" name="Shape 48"/>
          <p:cNvSpPr/>
          <p:nvPr/>
        </p:nvSpPr>
        <p:spPr>
          <a:xfrm>
            <a:off x="7694676" y="3850538"/>
            <a:ext cx="1867205" cy="609905"/>
          </a:xfrm>
          <a:prstGeom prst="rect">
            <a:avLst/>
          </a:prstGeom>
          <a:solidFill>
            <a:srgbClr val="FFFFFF">
              <a:alpha val="1000"/>
            </a:srgbClr>
          </a:solidFill>
          <a:ln/>
        </p:spPr>
      </p:sp>
      <p:sp>
        <p:nvSpPr>
          <p:cNvPr id="64" name="Shape 49"/>
          <p:cNvSpPr/>
          <p:nvPr/>
        </p:nvSpPr>
        <p:spPr>
          <a:xfrm>
            <a:off x="7694676" y="4451299"/>
            <a:ext cx="18672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5" name="Image 13" descr="preencoded.png"/>
          <p:cNvPicPr>
            <a:picLocks noChangeAspect="1"/>
          </p:cNvPicPr>
          <p:nvPr/>
        </p:nvPicPr>
        <p:blipFill>
          <a:blip r:embed="rId7"/>
          <a:srcRect t="-2222" b="-2222"/>
          <a:stretch/>
        </p:blipFill>
        <p:spPr>
          <a:xfrm>
            <a:off x="8561527" y="3951122"/>
            <a:ext cx="123444" cy="171907"/>
          </a:xfrm>
          <a:prstGeom prst="rect">
            <a:avLst/>
          </a:prstGeom>
        </p:spPr>
      </p:pic>
      <p:sp>
        <p:nvSpPr>
          <p:cNvPr id="66" name="Text 50"/>
          <p:cNvSpPr txBox="1"/>
          <p:nvPr/>
        </p:nvSpPr>
        <p:spPr>
          <a:xfrm>
            <a:off x="8263433" y="4160520"/>
            <a:ext cx="7260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Direct P2P</a:t>
            </a:r>
            <a:endParaRPr lang="en-US" sz="900" dirty="0"/>
          </a:p>
        </p:txBody>
      </p:sp>
      <p:sp>
        <p:nvSpPr>
          <p:cNvPr id="67" name="Shape 51"/>
          <p:cNvSpPr/>
          <p:nvPr/>
        </p:nvSpPr>
        <p:spPr>
          <a:xfrm>
            <a:off x="9571939" y="3850538"/>
            <a:ext cx="1867205" cy="609905"/>
          </a:xfrm>
          <a:prstGeom prst="rect">
            <a:avLst/>
          </a:prstGeom>
          <a:solidFill>
            <a:srgbClr val="FFFFFF">
              <a:alpha val="1000"/>
            </a:srgbClr>
          </a:solidFill>
          <a:ln/>
        </p:spPr>
      </p:sp>
      <p:sp>
        <p:nvSpPr>
          <p:cNvPr id="68" name="Shape 52"/>
          <p:cNvSpPr/>
          <p:nvPr/>
        </p:nvSpPr>
        <p:spPr>
          <a:xfrm>
            <a:off x="9571939" y="4451299"/>
            <a:ext cx="18672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9" name="Image 14" descr="preencoded.png"/>
          <p:cNvPicPr>
            <a:picLocks noChangeAspect="1"/>
          </p:cNvPicPr>
          <p:nvPr/>
        </p:nvPicPr>
        <p:blipFill>
          <a:blip r:embed="rId9"/>
          <a:srcRect l="-1082" r="-1082"/>
          <a:stretch/>
        </p:blipFill>
        <p:spPr>
          <a:xfrm>
            <a:off x="10419588" y="3946550"/>
            <a:ext cx="161849" cy="181051"/>
          </a:xfrm>
          <a:prstGeom prst="rect">
            <a:avLst/>
          </a:prstGeom>
        </p:spPr>
      </p:pic>
      <p:sp>
        <p:nvSpPr>
          <p:cNvPr id="70" name="Text 53"/>
          <p:cNvSpPr txBox="1"/>
          <p:nvPr/>
        </p:nvSpPr>
        <p:spPr>
          <a:xfrm>
            <a:off x="10134295" y="4165092"/>
            <a:ext cx="7342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Automated</a:t>
            </a:r>
            <a:endParaRPr lang="en-US" sz="900" dirty="0"/>
          </a:p>
        </p:txBody>
      </p:sp>
      <p:sp>
        <p:nvSpPr>
          <p:cNvPr id="71" name="Text 54"/>
          <p:cNvSpPr txBox="1"/>
          <p:nvPr/>
        </p:nvSpPr>
        <p:spPr>
          <a:xfrm>
            <a:off x="724205" y="4472330"/>
            <a:ext cx="2867558" cy="609905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</a:ln>
        </p:spPr>
        <p:txBody>
          <a:bodyPr wrap="square" lIns="292100" tIns="101600" rIns="101600" bIns="1016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Identity Verification</a:t>
            </a:r>
            <a:endParaRPr lang="en-US" sz="1100" dirty="0"/>
          </a:p>
        </p:txBody>
      </p:sp>
      <p:sp>
        <p:nvSpPr>
          <p:cNvPr id="72" name="Shape 55"/>
          <p:cNvSpPr/>
          <p:nvPr/>
        </p:nvSpPr>
        <p:spPr>
          <a:xfrm>
            <a:off x="3567989" y="4472330"/>
            <a:ext cx="2238451" cy="609905"/>
          </a:xfrm>
          <a:prstGeom prst="rect">
            <a:avLst/>
          </a:prstGeom>
          <a:noFill/>
          <a:ln w="12700">
            <a:solidFill>
              <a:srgbClr val="D4AF37">
                <a:alpha val="10000"/>
              </a:srgbClr>
            </a:solidFill>
            <a:prstDash val="solid"/>
          </a:ln>
        </p:spPr>
      </p:sp>
      <p:pic>
        <p:nvPicPr>
          <p:cNvPr id="73" name="Image 15" descr="preencoded.png"/>
          <p:cNvPicPr>
            <a:picLocks noChangeAspect="1"/>
          </p:cNvPicPr>
          <p:nvPr/>
        </p:nvPicPr>
        <p:blipFill>
          <a:blip r:embed="rId6"/>
          <a:srcRect l="-1082" r="-1082"/>
          <a:stretch/>
        </p:blipFill>
        <p:spPr>
          <a:xfrm>
            <a:off x="4602175" y="4567428"/>
            <a:ext cx="161849" cy="181051"/>
          </a:xfrm>
          <a:prstGeom prst="rect">
            <a:avLst/>
          </a:prstGeom>
        </p:spPr>
      </p:pic>
      <p:sp>
        <p:nvSpPr>
          <p:cNvPr id="74" name="Text 56"/>
          <p:cNvSpPr txBox="1"/>
          <p:nvPr/>
        </p:nvSpPr>
        <p:spPr>
          <a:xfrm>
            <a:off x="4329684" y="4785970"/>
            <a:ext cx="7141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F37">
                    <a:alpha val="9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Strict KYC</a:t>
            </a:r>
            <a:endParaRPr lang="en-US" sz="900" dirty="0"/>
          </a:p>
        </p:txBody>
      </p:sp>
      <p:sp>
        <p:nvSpPr>
          <p:cNvPr id="75" name="Shape 57"/>
          <p:cNvSpPr/>
          <p:nvPr/>
        </p:nvSpPr>
        <p:spPr>
          <a:xfrm>
            <a:off x="5817413" y="4472330"/>
            <a:ext cx="1867205" cy="609905"/>
          </a:xfrm>
          <a:prstGeom prst="rect">
            <a:avLst/>
          </a:prstGeom>
          <a:solidFill>
            <a:srgbClr val="FFFFFF">
              <a:alpha val="1000"/>
            </a:srgbClr>
          </a:solidFill>
          <a:ln/>
        </p:spPr>
      </p:sp>
      <p:sp>
        <p:nvSpPr>
          <p:cNvPr id="76" name="Shape 58"/>
          <p:cNvSpPr/>
          <p:nvPr/>
        </p:nvSpPr>
        <p:spPr>
          <a:xfrm>
            <a:off x="5817413" y="5073091"/>
            <a:ext cx="18672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7" name="Image 16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6679692" y="4581144"/>
            <a:ext cx="133502" cy="152705"/>
          </a:xfrm>
          <a:prstGeom prst="rect">
            <a:avLst/>
          </a:prstGeom>
        </p:spPr>
      </p:pic>
      <p:sp>
        <p:nvSpPr>
          <p:cNvPr id="78" name="Text 59"/>
          <p:cNvSpPr txBox="1"/>
          <p:nvPr/>
        </p:nvSpPr>
        <p:spPr>
          <a:xfrm>
            <a:off x="6357823" y="4772254"/>
            <a:ext cx="782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Basic Email</a:t>
            </a:r>
            <a:endParaRPr lang="en-US" sz="900" dirty="0"/>
          </a:p>
        </p:txBody>
      </p:sp>
      <p:sp>
        <p:nvSpPr>
          <p:cNvPr id="79" name="Shape 60"/>
          <p:cNvSpPr/>
          <p:nvPr/>
        </p:nvSpPr>
        <p:spPr>
          <a:xfrm>
            <a:off x="7694676" y="4472330"/>
            <a:ext cx="1867205" cy="609905"/>
          </a:xfrm>
          <a:prstGeom prst="rect">
            <a:avLst/>
          </a:prstGeom>
          <a:solidFill>
            <a:srgbClr val="FFFFFF">
              <a:alpha val="1000"/>
            </a:srgbClr>
          </a:solidFill>
          <a:ln/>
        </p:spPr>
      </p:sp>
      <p:sp>
        <p:nvSpPr>
          <p:cNvPr id="80" name="Shape 61"/>
          <p:cNvSpPr/>
          <p:nvPr/>
        </p:nvSpPr>
        <p:spPr>
          <a:xfrm>
            <a:off x="7694676" y="5073091"/>
            <a:ext cx="18672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1" name="Image 17" descr="preencoded.png"/>
          <p:cNvPicPr>
            <a:picLocks noChangeAspect="1"/>
          </p:cNvPicPr>
          <p:nvPr/>
        </p:nvPicPr>
        <p:blipFill>
          <a:blip r:embed="rId7"/>
          <a:srcRect t="-2222" b="-2222"/>
          <a:stretch/>
        </p:blipFill>
        <p:spPr>
          <a:xfrm>
            <a:off x="8561527" y="4572000"/>
            <a:ext cx="123444" cy="171907"/>
          </a:xfrm>
          <a:prstGeom prst="rect">
            <a:avLst/>
          </a:prstGeom>
        </p:spPr>
      </p:pic>
      <p:sp>
        <p:nvSpPr>
          <p:cNvPr id="82" name="Text 62"/>
          <p:cNvSpPr txBox="1"/>
          <p:nvPr/>
        </p:nvSpPr>
        <p:spPr>
          <a:xfrm>
            <a:off x="8433511" y="4781398"/>
            <a:ext cx="381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None</a:t>
            </a:r>
            <a:endParaRPr lang="en-US" sz="900" dirty="0"/>
          </a:p>
        </p:txBody>
      </p:sp>
      <p:sp>
        <p:nvSpPr>
          <p:cNvPr id="83" name="Shape 63"/>
          <p:cNvSpPr/>
          <p:nvPr/>
        </p:nvSpPr>
        <p:spPr>
          <a:xfrm>
            <a:off x="9571939" y="4472330"/>
            <a:ext cx="1867205" cy="609905"/>
          </a:xfrm>
          <a:prstGeom prst="rect">
            <a:avLst/>
          </a:prstGeom>
          <a:solidFill>
            <a:srgbClr val="FFFFFF">
              <a:alpha val="1000"/>
            </a:srgbClr>
          </a:solidFill>
          <a:ln/>
        </p:spPr>
      </p:sp>
      <p:sp>
        <p:nvSpPr>
          <p:cNvPr id="84" name="Shape 64"/>
          <p:cNvSpPr/>
          <p:nvPr/>
        </p:nvSpPr>
        <p:spPr>
          <a:xfrm>
            <a:off x="9571939" y="5073091"/>
            <a:ext cx="18672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5" name="Image 18" descr="preencoded.png"/>
          <p:cNvPicPr>
            <a:picLocks noChangeAspect="1"/>
          </p:cNvPicPr>
          <p:nvPr/>
        </p:nvPicPr>
        <p:blipFill>
          <a:blip r:embed="rId9"/>
          <a:srcRect l="-1082" r="-1082"/>
          <a:stretch/>
        </p:blipFill>
        <p:spPr>
          <a:xfrm>
            <a:off x="10419588" y="4567428"/>
            <a:ext cx="161849" cy="181051"/>
          </a:xfrm>
          <a:prstGeom prst="rect">
            <a:avLst/>
          </a:prstGeom>
        </p:spPr>
      </p:pic>
      <p:sp>
        <p:nvSpPr>
          <p:cNvPr id="86" name="Text 65"/>
          <p:cNvSpPr txBox="1"/>
          <p:nvPr/>
        </p:nvSpPr>
        <p:spPr>
          <a:xfrm>
            <a:off x="10049256" y="4785970"/>
            <a:ext cx="9107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Account Only</a:t>
            </a:r>
            <a:endParaRPr lang="en-US" sz="900" dirty="0"/>
          </a:p>
        </p:txBody>
      </p:sp>
      <p:sp>
        <p:nvSpPr>
          <p:cNvPr id="87" name="Text 66"/>
          <p:cNvSpPr txBox="1"/>
          <p:nvPr/>
        </p:nvSpPr>
        <p:spPr>
          <a:xfrm>
            <a:off x="724205" y="5093208"/>
            <a:ext cx="2867558" cy="695858"/>
          </a:xfrm>
          <a:prstGeom prst="rect">
            <a:avLst/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</a:ln>
        </p:spPr>
        <p:txBody>
          <a:bodyPr wrap="square" lIns="292100" tIns="101600" rIns="101600" bIns="1016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Platform Fee</a:t>
            </a:r>
            <a:endParaRPr lang="en-US" sz="1100" dirty="0"/>
          </a:p>
        </p:txBody>
      </p:sp>
      <p:sp>
        <p:nvSpPr>
          <p:cNvPr id="88" name="Shape 67"/>
          <p:cNvSpPr/>
          <p:nvPr/>
        </p:nvSpPr>
        <p:spPr>
          <a:xfrm>
            <a:off x="3567989" y="5093208"/>
            <a:ext cx="2238451" cy="694944"/>
          </a:xfrm>
          <a:prstGeom prst="rect">
            <a:avLst/>
          </a:prstGeom>
          <a:noFill/>
          <a:ln w="12700">
            <a:solidFill>
              <a:srgbClr val="D4AF37">
                <a:alpha val="10000"/>
              </a:srgbClr>
            </a:solidFill>
            <a:prstDash val="solid"/>
          </a:ln>
        </p:spPr>
      </p:sp>
      <p:sp>
        <p:nvSpPr>
          <p:cNvPr id="89" name="Text 68"/>
          <p:cNvSpPr txBox="1"/>
          <p:nvPr/>
        </p:nvSpPr>
        <p:spPr>
          <a:xfrm>
            <a:off x="4312310" y="5188306"/>
            <a:ext cx="74889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2% Flat</a:t>
            </a:r>
            <a:endParaRPr lang="en-US" sz="1400" dirty="0"/>
          </a:p>
        </p:txBody>
      </p:sp>
      <p:sp>
        <p:nvSpPr>
          <p:cNvPr id="90" name="Text 69"/>
          <p:cNvSpPr txBox="1"/>
          <p:nvPr/>
        </p:nvSpPr>
        <p:spPr>
          <a:xfrm>
            <a:off x="4259275" y="5501030"/>
            <a:ext cx="8503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F37">
                    <a:alpha val="9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Transparent</a:t>
            </a:r>
            <a:endParaRPr lang="en-US" sz="900" dirty="0"/>
          </a:p>
        </p:txBody>
      </p:sp>
      <p:sp>
        <p:nvSpPr>
          <p:cNvPr id="91" name="Shape 70"/>
          <p:cNvSpPr/>
          <p:nvPr/>
        </p:nvSpPr>
        <p:spPr>
          <a:xfrm>
            <a:off x="5817413" y="5093208"/>
            <a:ext cx="1867205" cy="694944"/>
          </a:xfrm>
          <a:prstGeom prst="rect">
            <a:avLst/>
          </a:prstGeom>
          <a:solidFill>
            <a:srgbClr val="FFFFFF">
              <a:alpha val="1000"/>
            </a:srgbClr>
          </a:solidFill>
          <a:ln/>
        </p:spPr>
      </p:sp>
      <p:sp>
        <p:nvSpPr>
          <p:cNvPr id="92" name="Shape 71"/>
          <p:cNvSpPr/>
          <p:nvPr/>
        </p:nvSpPr>
        <p:spPr>
          <a:xfrm>
            <a:off x="5817413" y="5779008"/>
            <a:ext cx="18672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Text 72"/>
          <p:cNvSpPr txBox="1"/>
          <p:nvPr/>
        </p:nvSpPr>
        <p:spPr>
          <a:xfrm>
            <a:off x="6510528" y="5235854"/>
            <a:ext cx="4764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1-10%</a:t>
            </a:r>
            <a:endParaRPr lang="en-US" sz="1100" dirty="0"/>
          </a:p>
        </p:txBody>
      </p:sp>
      <p:sp>
        <p:nvSpPr>
          <p:cNvPr id="94" name="Text 73"/>
          <p:cNvSpPr txBox="1"/>
          <p:nvPr/>
        </p:nvSpPr>
        <p:spPr>
          <a:xfrm>
            <a:off x="6332220" y="5453482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Hidden Fees</a:t>
            </a:r>
            <a:endParaRPr lang="en-US" sz="900" dirty="0"/>
          </a:p>
        </p:txBody>
      </p:sp>
      <p:sp>
        <p:nvSpPr>
          <p:cNvPr id="95" name="Shape 74"/>
          <p:cNvSpPr/>
          <p:nvPr/>
        </p:nvSpPr>
        <p:spPr>
          <a:xfrm>
            <a:off x="7694676" y="5093208"/>
            <a:ext cx="1867205" cy="694944"/>
          </a:xfrm>
          <a:prstGeom prst="rect">
            <a:avLst/>
          </a:prstGeom>
          <a:solidFill>
            <a:srgbClr val="FFFFFF">
              <a:alpha val="1000"/>
            </a:srgbClr>
          </a:solidFill>
          <a:ln/>
        </p:spPr>
      </p:sp>
      <p:sp>
        <p:nvSpPr>
          <p:cNvPr id="96" name="Shape 75"/>
          <p:cNvSpPr/>
          <p:nvPr/>
        </p:nvSpPr>
        <p:spPr>
          <a:xfrm>
            <a:off x="7694676" y="5779008"/>
            <a:ext cx="18672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Text 76"/>
          <p:cNvSpPr txBox="1"/>
          <p:nvPr/>
        </p:nvSpPr>
        <p:spPr>
          <a:xfrm>
            <a:off x="8340242" y="5235854"/>
            <a:ext cx="571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Hidden</a:t>
            </a:r>
            <a:endParaRPr lang="en-US" sz="1100" dirty="0"/>
          </a:p>
        </p:txBody>
      </p:sp>
      <p:sp>
        <p:nvSpPr>
          <p:cNvPr id="98" name="Text 77"/>
          <p:cNvSpPr txBox="1"/>
          <p:nvPr/>
        </p:nvSpPr>
        <p:spPr>
          <a:xfrm>
            <a:off x="8207654" y="5453482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Undisclosed</a:t>
            </a:r>
            <a:endParaRPr lang="en-US" sz="900" dirty="0"/>
          </a:p>
        </p:txBody>
      </p:sp>
      <p:sp>
        <p:nvSpPr>
          <p:cNvPr id="99" name="Shape 78"/>
          <p:cNvSpPr/>
          <p:nvPr/>
        </p:nvSpPr>
        <p:spPr>
          <a:xfrm>
            <a:off x="9571939" y="5093208"/>
            <a:ext cx="1867205" cy="694944"/>
          </a:xfrm>
          <a:prstGeom prst="rect">
            <a:avLst/>
          </a:prstGeom>
          <a:solidFill>
            <a:srgbClr val="FFFFFF">
              <a:alpha val="1000"/>
            </a:srgbClr>
          </a:solidFill>
          <a:ln/>
        </p:spPr>
      </p:sp>
      <p:sp>
        <p:nvSpPr>
          <p:cNvPr id="100" name="Shape 79"/>
          <p:cNvSpPr/>
          <p:nvPr/>
        </p:nvSpPr>
        <p:spPr>
          <a:xfrm>
            <a:off x="9571939" y="5779008"/>
            <a:ext cx="18672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Text 80"/>
          <p:cNvSpPr txBox="1"/>
          <p:nvPr/>
        </p:nvSpPr>
        <p:spPr>
          <a:xfrm>
            <a:off x="10361066" y="5235854"/>
            <a:ext cx="2862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0%</a:t>
            </a:r>
            <a:endParaRPr lang="en-US" sz="1100" dirty="0"/>
          </a:p>
        </p:txBody>
      </p:sp>
      <p:sp>
        <p:nvSpPr>
          <p:cNvPr id="102" name="Text 81"/>
          <p:cNvSpPr txBox="1"/>
          <p:nvPr/>
        </p:nvSpPr>
        <p:spPr>
          <a:xfrm>
            <a:off x="10122408" y="5453482"/>
            <a:ext cx="7589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Rake Model</a:t>
            </a:r>
            <a:endParaRPr lang="en-US" sz="900" dirty="0"/>
          </a:p>
        </p:txBody>
      </p:sp>
      <p:sp>
        <p:nvSpPr>
          <p:cNvPr id="103" name="Shape 82"/>
          <p:cNvSpPr/>
          <p:nvPr/>
        </p:nvSpPr>
        <p:spPr>
          <a:xfrm>
            <a:off x="761695" y="5807354"/>
            <a:ext cx="2790749" cy="59984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04" name="Shape 83"/>
          <p:cNvSpPr/>
          <p:nvPr/>
        </p:nvSpPr>
        <p:spPr>
          <a:xfrm>
            <a:off x="3543300" y="5807354"/>
            <a:ext cx="9144" cy="599846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Text 84"/>
          <p:cNvSpPr txBox="1"/>
          <p:nvPr/>
        </p:nvSpPr>
        <p:spPr>
          <a:xfrm>
            <a:off x="724205" y="5807354"/>
            <a:ext cx="2763317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Crypto Support</a:t>
            </a:r>
            <a:endParaRPr lang="en-US" sz="1100" dirty="0"/>
          </a:p>
        </p:txBody>
      </p:sp>
      <p:sp>
        <p:nvSpPr>
          <p:cNvPr id="106" name="Shape 85"/>
          <p:cNvSpPr/>
          <p:nvPr/>
        </p:nvSpPr>
        <p:spPr>
          <a:xfrm>
            <a:off x="3567989" y="5807354"/>
            <a:ext cx="2238451" cy="599846"/>
          </a:xfrm>
          <a:prstGeom prst="rect">
            <a:avLst/>
          </a:prstGeom>
          <a:noFill/>
          <a:ln w="12700">
            <a:solidFill>
              <a:srgbClr val="D4AF37">
                <a:alpha val="10000"/>
              </a:srgbClr>
            </a:solidFill>
            <a:prstDash val="solid"/>
          </a:ln>
        </p:spPr>
      </p:sp>
      <p:pic>
        <p:nvPicPr>
          <p:cNvPr id="107" name="Image 19" descr="preencoded.png"/>
          <p:cNvPicPr>
            <a:picLocks noChangeAspect="1"/>
          </p:cNvPicPr>
          <p:nvPr/>
        </p:nvPicPr>
        <p:blipFill>
          <a:blip r:embed="rId6"/>
          <a:srcRect l="-1082" r="-1082"/>
          <a:stretch/>
        </p:blipFill>
        <p:spPr>
          <a:xfrm>
            <a:off x="4602175" y="5902452"/>
            <a:ext cx="161849" cy="181051"/>
          </a:xfrm>
          <a:prstGeom prst="rect">
            <a:avLst/>
          </a:prstGeom>
        </p:spPr>
      </p:pic>
      <p:sp>
        <p:nvSpPr>
          <p:cNvPr id="108" name="Text 86"/>
          <p:cNvSpPr txBox="1"/>
          <p:nvPr/>
        </p:nvSpPr>
        <p:spPr>
          <a:xfrm>
            <a:off x="4304995" y="6121908"/>
            <a:ext cx="7598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AF37">
                    <a:alpha val="9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USDT / BTC</a:t>
            </a:r>
            <a:endParaRPr lang="en-US" sz="900" dirty="0"/>
          </a:p>
        </p:txBody>
      </p:sp>
      <p:sp>
        <p:nvSpPr>
          <p:cNvPr id="109" name="Shape 87"/>
          <p:cNvSpPr/>
          <p:nvPr/>
        </p:nvSpPr>
        <p:spPr>
          <a:xfrm>
            <a:off x="5817413" y="5807354"/>
            <a:ext cx="1867205" cy="599846"/>
          </a:xfrm>
          <a:prstGeom prst="rect">
            <a:avLst/>
          </a:prstGeom>
          <a:solidFill>
            <a:srgbClr val="FFFFFF">
              <a:alpha val="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0" name="Image 20" descr="preencoded.png"/>
          <p:cNvPicPr>
            <a:picLocks noChangeAspect="1"/>
          </p:cNvPicPr>
          <p:nvPr/>
        </p:nvPicPr>
        <p:blipFill>
          <a:blip r:embed="rId9"/>
          <a:srcRect l="-1082" r="-1082"/>
          <a:stretch/>
        </p:blipFill>
        <p:spPr>
          <a:xfrm>
            <a:off x="6665062" y="5902452"/>
            <a:ext cx="161849" cy="181051"/>
          </a:xfrm>
          <a:prstGeom prst="rect">
            <a:avLst/>
          </a:prstGeom>
        </p:spPr>
      </p:pic>
      <p:sp>
        <p:nvSpPr>
          <p:cNvPr id="111" name="Text 88"/>
          <p:cNvSpPr txBox="1"/>
          <p:nvPr/>
        </p:nvSpPr>
        <p:spPr>
          <a:xfrm>
            <a:off x="6391656" y="6121908"/>
            <a:ext cx="715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Supported</a:t>
            </a:r>
            <a:endParaRPr lang="en-US" sz="900" dirty="0"/>
          </a:p>
        </p:txBody>
      </p:sp>
      <p:sp>
        <p:nvSpPr>
          <p:cNvPr id="112" name="Shape 89"/>
          <p:cNvSpPr/>
          <p:nvPr/>
        </p:nvSpPr>
        <p:spPr>
          <a:xfrm>
            <a:off x="7694676" y="5807354"/>
            <a:ext cx="1867205" cy="599846"/>
          </a:xfrm>
          <a:prstGeom prst="rect">
            <a:avLst/>
          </a:prstGeom>
          <a:solidFill>
            <a:srgbClr val="FFFFFF">
              <a:alpha val="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3" name="Image 21" descr="preencoded.png"/>
          <p:cNvPicPr>
            <a:picLocks noChangeAspect="1"/>
          </p:cNvPicPr>
          <p:nvPr/>
        </p:nvPicPr>
        <p:blipFill>
          <a:blip r:embed="rId9"/>
          <a:srcRect l="-1082" r="-1082"/>
          <a:stretch/>
        </p:blipFill>
        <p:spPr>
          <a:xfrm>
            <a:off x="8542325" y="5902452"/>
            <a:ext cx="161849" cy="181051"/>
          </a:xfrm>
          <a:prstGeom prst="rect">
            <a:avLst/>
          </a:prstGeom>
        </p:spPr>
      </p:pic>
      <p:sp>
        <p:nvSpPr>
          <p:cNvPr id="114" name="Text 90"/>
          <p:cNvSpPr txBox="1"/>
          <p:nvPr/>
        </p:nvSpPr>
        <p:spPr>
          <a:xfrm>
            <a:off x="8268919" y="6121908"/>
            <a:ext cx="715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Supported</a:t>
            </a:r>
            <a:endParaRPr lang="en-US" sz="900" dirty="0"/>
          </a:p>
        </p:txBody>
      </p:sp>
      <p:sp>
        <p:nvSpPr>
          <p:cNvPr id="115" name="Shape 91"/>
          <p:cNvSpPr/>
          <p:nvPr/>
        </p:nvSpPr>
        <p:spPr>
          <a:xfrm>
            <a:off x="9571939" y="5807354"/>
            <a:ext cx="1867205" cy="599846"/>
          </a:xfrm>
          <a:prstGeom prst="rect">
            <a:avLst/>
          </a:prstGeom>
          <a:solidFill>
            <a:srgbClr val="FFFFFF">
              <a:alpha val="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6" name="Image 22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10434218" y="5917082"/>
            <a:ext cx="133502" cy="152705"/>
          </a:xfrm>
          <a:prstGeom prst="rect">
            <a:avLst/>
          </a:prstGeom>
        </p:spPr>
      </p:pic>
      <p:sp>
        <p:nvSpPr>
          <p:cNvPr id="117" name="Text 92"/>
          <p:cNvSpPr txBox="1"/>
          <p:nvPr/>
        </p:nvSpPr>
        <p:spPr>
          <a:xfrm>
            <a:off x="10126066" y="6107278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 Only</a:t>
            </a:r>
            <a:endParaRPr lang="en-US" sz="900" dirty="0"/>
          </a:p>
        </p:txBody>
      </p:sp>
      <p:sp>
        <p:nvSpPr>
          <p:cNvPr id="118" name="Text 93"/>
          <p:cNvSpPr txBox="1"/>
          <p:nvPr/>
        </p:nvSpPr>
        <p:spPr>
          <a:xfrm>
            <a:off x="8512150" y="381305"/>
            <a:ext cx="31747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6" dirty="0">
                <a:solidFill>
                  <a:srgbClr val="FFFFFF">
                    <a:alpha val="2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BackerHub Investor Presentation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952805" y="-952805"/>
            <a:ext cx="5715000" cy="5715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5" r="-5"/>
          <a:stretch/>
        </p:blipFill>
        <p:spPr>
          <a:xfrm>
            <a:off x="6476695" y="3524098"/>
            <a:ext cx="6667805" cy="476219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262518" y="476402"/>
            <a:ext cx="31747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96" dirty="0">
                <a:solidFill>
                  <a:srgbClr val="FFFFFF">
                    <a:alpha val="2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BackerHub Investor Presentation 2026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654942" y="6344107"/>
            <a:ext cx="238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2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12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761695" y="476402"/>
            <a:ext cx="107826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62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&amp; Milestones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761695" y="758038"/>
            <a:ext cx="108585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Building Momentum</a:t>
            </a:r>
            <a:endParaRPr lang="en-US" sz="3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l="-385" r="-385"/>
          <a:stretch/>
        </p:blipFill>
        <p:spPr>
          <a:xfrm>
            <a:off x="761695" y="1370686"/>
            <a:ext cx="761695" cy="2834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61695" y="2152498"/>
            <a:ext cx="3571646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61695" y="1732788"/>
            <a:ext cx="368686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Pre-Launch Status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761695" y="2348179"/>
            <a:ext cx="3571646" cy="733349"/>
          </a:xfrm>
          <a:prstGeom prst="roundRect">
            <a:avLst>
              <a:gd name="adj" fmla="val 25909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914400" y="2519172"/>
            <a:ext cx="228600" cy="228600"/>
          </a:xfrm>
          <a:prstGeom prst="ellipse">
            <a:avLst/>
          </a:prstGeom>
          <a:solidFill>
            <a:srgbClr val="D4AF37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t="-524" b="-524"/>
          <a:stretch/>
        </p:blipFill>
        <p:spPr>
          <a:xfrm>
            <a:off x="952805" y="2572207"/>
            <a:ext cx="152705" cy="1234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85646" y="2499970"/>
            <a:ext cx="23582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Full Platform Built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1285646" y="2756002"/>
            <a:ext cx="269839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Next.js + Supabase architecture ready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761695" y="3221431"/>
            <a:ext cx="3571646" cy="733349"/>
          </a:xfrm>
          <a:prstGeom prst="roundRect">
            <a:avLst>
              <a:gd name="adj" fmla="val 25909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914400" y="3393338"/>
            <a:ext cx="228600" cy="228600"/>
          </a:xfrm>
          <a:prstGeom prst="ellipse">
            <a:avLst/>
          </a:prstGeom>
          <a:solidFill>
            <a:srgbClr val="D4AF37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66521" y="3445459"/>
            <a:ext cx="123444" cy="1234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85646" y="337413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Staking Lifecycle Live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1285646" y="3629254"/>
            <a:ext cx="206380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Listing to payout automation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761695" y="4095598"/>
            <a:ext cx="3571646" cy="733349"/>
          </a:xfrm>
          <a:prstGeom prst="roundRect">
            <a:avLst>
              <a:gd name="adj" fmla="val 25909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914400" y="4266590"/>
            <a:ext cx="228600" cy="228600"/>
          </a:xfrm>
          <a:prstGeom prst="ellipse">
            <a:avLst/>
          </a:prstGeom>
          <a:solidFill>
            <a:srgbClr val="D4AF37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rcRect t="-524" b="-524"/>
          <a:stretch/>
        </p:blipFill>
        <p:spPr>
          <a:xfrm>
            <a:off x="952805" y="4318711"/>
            <a:ext cx="152705" cy="12344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285646" y="4247388"/>
            <a:ext cx="17730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Bilingual Interface</a:t>
            </a:r>
            <a:endParaRPr lang="en-US" sz="1100" dirty="0"/>
          </a:p>
        </p:txBody>
      </p:sp>
      <p:sp>
        <p:nvSpPr>
          <p:cNvPr id="27" name="Text 19"/>
          <p:cNvSpPr txBox="1"/>
          <p:nvPr/>
        </p:nvSpPr>
        <p:spPr>
          <a:xfrm>
            <a:off x="1285646" y="4502506"/>
            <a:ext cx="199522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English + Traditional Chinese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761695" y="4968850"/>
            <a:ext cx="3571646" cy="733349"/>
          </a:xfrm>
          <a:prstGeom prst="roundRect">
            <a:avLst>
              <a:gd name="adj" fmla="val 25909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914400" y="5139842"/>
            <a:ext cx="228600" cy="228600"/>
          </a:xfrm>
          <a:prstGeom prst="ellipse">
            <a:avLst/>
          </a:prstGeom>
          <a:solidFill>
            <a:srgbClr val="D4AF37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rcRect t="-2012" b="-2012"/>
          <a:stretch/>
        </p:blipFill>
        <p:spPr>
          <a:xfrm>
            <a:off x="961949" y="5192878"/>
            <a:ext cx="133502" cy="123444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285646" y="5121554"/>
            <a:ext cx="23180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 Payment Integrations</a:t>
            </a:r>
            <a:endParaRPr lang="en-US" sz="1100" dirty="0"/>
          </a:p>
        </p:txBody>
      </p:sp>
      <p:sp>
        <p:nvSpPr>
          <p:cNvPr id="32" name="Text 23"/>
          <p:cNvSpPr txBox="1"/>
          <p:nvPr/>
        </p:nvSpPr>
        <p:spPr>
          <a:xfrm>
            <a:off x="1285646" y="5376672"/>
            <a:ext cx="265267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Configured &amp; tested (ECPay, LINE, etc)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761695" y="5842102"/>
            <a:ext cx="3571646" cy="733349"/>
          </a:xfrm>
          <a:prstGeom prst="roundRect">
            <a:avLst>
              <a:gd name="adj" fmla="val 25909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914400" y="6014009"/>
            <a:ext cx="228600" cy="228600"/>
          </a:xfrm>
          <a:prstGeom prst="ellipse">
            <a:avLst/>
          </a:prstGeom>
          <a:solidFill>
            <a:srgbClr val="D4AF37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rcRect t="-524" b="-524"/>
          <a:stretch/>
        </p:blipFill>
        <p:spPr>
          <a:xfrm>
            <a:off x="952805" y="6066130"/>
            <a:ext cx="152705" cy="123444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1285646" y="5994806"/>
            <a:ext cx="20290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Verified Player Directory</a:t>
            </a:r>
            <a:endParaRPr lang="en-US" sz="1100" dirty="0"/>
          </a:p>
        </p:txBody>
      </p:sp>
      <p:sp>
        <p:nvSpPr>
          <p:cNvPr id="37" name="Text 27"/>
          <p:cNvSpPr txBox="1"/>
          <p:nvPr/>
        </p:nvSpPr>
        <p:spPr>
          <a:xfrm>
            <a:off x="1285646" y="6249924"/>
            <a:ext cx="17812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13+ seeded initial pros</a:t>
            </a:r>
            <a:endParaRPr lang="en-US" sz="900" dirty="0"/>
          </a:p>
        </p:txBody>
      </p:sp>
      <p:sp>
        <p:nvSpPr>
          <p:cNvPr id="38" name="Shape 28"/>
          <p:cNvSpPr/>
          <p:nvPr/>
        </p:nvSpPr>
        <p:spPr>
          <a:xfrm>
            <a:off x="4805172" y="2152498"/>
            <a:ext cx="66294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29"/>
          <p:cNvSpPr txBox="1"/>
          <p:nvPr/>
        </p:nvSpPr>
        <p:spPr>
          <a:xfrm>
            <a:off x="4805172" y="1732788"/>
            <a:ext cx="6743700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2026 Roadmap</a:t>
            </a:r>
            <a:endParaRPr lang="en-US" sz="1600" dirty="0"/>
          </a:p>
        </p:txBody>
      </p:sp>
      <p:sp>
        <p:nvSpPr>
          <p:cNvPr id="40" name="Shape 30"/>
          <p:cNvSpPr/>
          <p:nvPr/>
        </p:nvSpPr>
        <p:spPr>
          <a:xfrm>
            <a:off x="4805172" y="4634179"/>
            <a:ext cx="6629400" cy="1419149"/>
          </a:xfrm>
          <a:prstGeom prst="roundRect">
            <a:avLst>
              <a:gd name="adj" fmla="val 10378"/>
            </a:avLst>
          </a:prstGeom>
          <a:solidFill>
            <a:srgbClr val="141414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1" name="Text 31"/>
          <p:cNvSpPr txBox="1"/>
          <p:nvPr/>
        </p:nvSpPr>
        <p:spPr>
          <a:xfrm>
            <a:off x="5052974" y="4833518"/>
            <a:ext cx="6249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6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Targets (Year 1)</a:t>
            </a:r>
            <a:endParaRPr lang="en-US" sz="900" dirty="0"/>
          </a:p>
        </p:txBody>
      </p:sp>
      <p:sp>
        <p:nvSpPr>
          <p:cNvPr id="42" name="Shape 32"/>
          <p:cNvSpPr/>
          <p:nvPr/>
        </p:nvSpPr>
        <p:spPr>
          <a:xfrm>
            <a:off x="5052974" y="4833518"/>
            <a:ext cx="453451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4805172" y="2633472"/>
            <a:ext cx="1552651" cy="1714500"/>
          </a:xfrm>
          <a:prstGeom prst="roundRect">
            <a:avLst>
              <a:gd name="adj" fmla="val 8671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4805172" y="2633472"/>
            <a:ext cx="1529791" cy="19202"/>
          </a:xfrm>
          <a:prstGeom prst="roundRect">
            <a:avLst>
              <a:gd name="adj" fmla="val 4762004"/>
            </a:avLst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12700" dir="16200000" algn="bl" rotWithShape="0">
              <a:srgbClr val="D4AF37">
                <a:alpha val="50000"/>
              </a:srgbClr>
            </a:outerShdw>
          </a:effectLst>
        </p:spPr>
      </p:sp>
      <p:sp>
        <p:nvSpPr>
          <p:cNvPr id="45" name="Text 35"/>
          <p:cNvSpPr txBox="1"/>
          <p:nvPr/>
        </p:nvSpPr>
        <p:spPr>
          <a:xfrm>
            <a:off x="5005426" y="2833726"/>
            <a:ext cx="12289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800" dirty="0"/>
          </a:p>
        </p:txBody>
      </p:sp>
      <p:sp>
        <p:nvSpPr>
          <p:cNvPr id="46" name="Text 36"/>
          <p:cNvSpPr txBox="1"/>
          <p:nvPr/>
        </p:nvSpPr>
        <p:spPr>
          <a:xfrm>
            <a:off x="5005426" y="3224174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4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Launch &amp; Seed</a:t>
            </a:r>
            <a:endParaRPr lang="en-US" sz="1000" dirty="0"/>
          </a:p>
        </p:txBody>
      </p:sp>
      <p:sp>
        <p:nvSpPr>
          <p:cNvPr id="47" name="Text 37"/>
          <p:cNvSpPr txBox="1"/>
          <p:nvPr/>
        </p:nvSpPr>
        <p:spPr>
          <a:xfrm>
            <a:off x="5005426" y="3544214"/>
            <a:ext cx="12289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Platform Launch</a:t>
            </a:r>
            <a:endParaRPr lang="en-US" sz="900" dirty="0"/>
          </a:p>
        </p:txBody>
      </p:sp>
      <p:sp>
        <p:nvSpPr>
          <p:cNvPr id="48" name="Text 38"/>
          <p:cNvSpPr txBox="1"/>
          <p:nvPr/>
        </p:nvSpPr>
        <p:spPr>
          <a:xfrm>
            <a:off x="5005426" y="3749954"/>
            <a:ext cx="12289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CTP Partnership</a:t>
            </a:r>
            <a:endParaRPr lang="en-US" sz="900" dirty="0"/>
          </a:p>
        </p:txBody>
      </p:sp>
      <p:sp>
        <p:nvSpPr>
          <p:cNvPr id="49" name="Text 39"/>
          <p:cNvSpPr txBox="1"/>
          <p:nvPr/>
        </p:nvSpPr>
        <p:spPr>
          <a:xfrm>
            <a:off x="5005426" y="3955694"/>
            <a:ext cx="12097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Users Onboarding</a:t>
            </a:r>
            <a:endParaRPr lang="en-US" sz="900" dirty="0"/>
          </a:p>
        </p:txBody>
      </p:sp>
      <p:sp>
        <p:nvSpPr>
          <p:cNvPr id="50" name="Shape 40"/>
          <p:cNvSpPr/>
          <p:nvPr/>
        </p:nvSpPr>
        <p:spPr>
          <a:xfrm>
            <a:off x="6496812" y="2633472"/>
            <a:ext cx="1552651" cy="1714500"/>
          </a:xfrm>
          <a:prstGeom prst="roundRect">
            <a:avLst>
              <a:gd name="adj" fmla="val 8671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6496812" y="2633472"/>
            <a:ext cx="1529791" cy="19202"/>
          </a:xfrm>
          <a:prstGeom prst="roundRect">
            <a:avLst>
              <a:gd name="adj" fmla="val 4762004"/>
            </a:avLst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12700" dir="16200000" algn="bl" rotWithShape="0">
              <a:srgbClr val="D4AF37">
                <a:alpha val="50000"/>
              </a:srgbClr>
            </a:outerShdw>
          </a:effectLst>
        </p:spPr>
      </p:sp>
      <p:sp>
        <p:nvSpPr>
          <p:cNvPr id="52" name="Text 42"/>
          <p:cNvSpPr txBox="1"/>
          <p:nvPr/>
        </p:nvSpPr>
        <p:spPr>
          <a:xfrm>
            <a:off x="6697066" y="2833726"/>
            <a:ext cx="12289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800" dirty="0"/>
          </a:p>
        </p:txBody>
      </p:sp>
      <p:sp>
        <p:nvSpPr>
          <p:cNvPr id="53" name="Text 43"/>
          <p:cNvSpPr txBox="1"/>
          <p:nvPr/>
        </p:nvSpPr>
        <p:spPr>
          <a:xfrm>
            <a:off x="6697066" y="3224174"/>
            <a:ext cx="120975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4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Events &amp; Growth</a:t>
            </a:r>
            <a:endParaRPr lang="en-US" sz="1000" dirty="0"/>
          </a:p>
        </p:txBody>
      </p:sp>
      <p:sp>
        <p:nvSpPr>
          <p:cNvPr id="54" name="Text 44"/>
          <p:cNvSpPr txBox="1"/>
          <p:nvPr/>
        </p:nvSpPr>
        <p:spPr>
          <a:xfrm>
            <a:off x="6697066" y="3749954"/>
            <a:ext cx="12289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First APT Event</a:t>
            </a:r>
            <a:endParaRPr lang="en-US" sz="900" dirty="0"/>
          </a:p>
        </p:txBody>
      </p:sp>
      <p:sp>
        <p:nvSpPr>
          <p:cNvPr id="55" name="Text 45"/>
          <p:cNvSpPr txBox="1"/>
          <p:nvPr/>
        </p:nvSpPr>
        <p:spPr>
          <a:xfrm>
            <a:off x="6697066" y="3955694"/>
            <a:ext cx="12289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500 Active Users</a:t>
            </a:r>
            <a:endParaRPr lang="en-US" sz="900" dirty="0"/>
          </a:p>
        </p:txBody>
      </p:sp>
      <p:sp>
        <p:nvSpPr>
          <p:cNvPr id="56" name="Text 46"/>
          <p:cNvSpPr txBox="1"/>
          <p:nvPr/>
        </p:nvSpPr>
        <p:spPr>
          <a:xfrm>
            <a:off x="6697066" y="4161434"/>
            <a:ext cx="12289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Marketing Push</a:t>
            </a:r>
            <a:endParaRPr lang="en-US" sz="900" dirty="0"/>
          </a:p>
        </p:txBody>
      </p:sp>
      <p:sp>
        <p:nvSpPr>
          <p:cNvPr id="57" name="Shape 47"/>
          <p:cNvSpPr/>
          <p:nvPr/>
        </p:nvSpPr>
        <p:spPr>
          <a:xfrm>
            <a:off x="8189366" y="2633472"/>
            <a:ext cx="1552651" cy="1714500"/>
          </a:xfrm>
          <a:prstGeom prst="roundRect">
            <a:avLst>
              <a:gd name="adj" fmla="val 8671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8" name="Shape 48"/>
          <p:cNvSpPr/>
          <p:nvPr/>
        </p:nvSpPr>
        <p:spPr>
          <a:xfrm>
            <a:off x="8189366" y="2633472"/>
            <a:ext cx="1529791" cy="19202"/>
          </a:xfrm>
          <a:prstGeom prst="roundRect">
            <a:avLst>
              <a:gd name="adj" fmla="val 4762004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49"/>
          <p:cNvSpPr txBox="1"/>
          <p:nvPr/>
        </p:nvSpPr>
        <p:spPr>
          <a:xfrm>
            <a:off x="8388706" y="2833726"/>
            <a:ext cx="12289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4AF37">
                    <a:alpha val="8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800" dirty="0"/>
          </a:p>
        </p:txBody>
      </p:sp>
      <p:sp>
        <p:nvSpPr>
          <p:cNvPr id="60" name="Text 50"/>
          <p:cNvSpPr txBox="1"/>
          <p:nvPr/>
        </p:nvSpPr>
        <p:spPr>
          <a:xfrm>
            <a:off x="8388706" y="3224174"/>
            <a:ext cx="122895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4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Expansion</a:t>
            </a:r>
            <a:endParaRPr lang="en-US" sz="1000" dirty="0"/>
          </a:p>
        </p:txBody>
      </p:sp>
      <p:sp>
        <p:nvSpPr>
          <p:cNvPr id="61" name="Text 51"/>
          <p:cNvSpPr txBox="1"/>
          <p:nvPr/>
        </p:nvSpPr>
        <p:spPr>
          <a:xfrm>
            <a:off x="8388706" y="3544214"/>
            <a:ext cx="12289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HK Expansion</a:t>
            </a:r>
            <a:endParaRPr lang="en-US" sz="900" dirty="0"/>
          </a:p>
        </p:txBody>
      </p:sp>
      <p:sp>
        <p:nvSpPr>
          <p:cNvPr id="62" name="Text 52"/>
          <p:cNvSpPr txBox="1"/>
          <p:nvPr/>
        </p:nvSpPr>
        <p:spPr>
          <a:xfrm>
            <a:off x="8388706" y="3749954"/>
            <a:ext cx="12289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Crypto Live</a:t>
            </a:r>
            <a:endParaRPr lang="en-US" sz="900" dirty="0"/>
          </a:p>
        </p:txBody>
      </p:sp>
      <p:sp>
        <p:nvSpPr>
          <p:cNvPr id="63" name="Text 53"/>
          <p:cNvSpPr txBox="1"/>
          <p:nvPr/>
        </p:nvSpPr>
        <p:spPr>
          <a:xfrm>
            <a:off x="8388706" y="3955694"/>
            <a:ext cx="120975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Cross-border Staking</a:t>
            </a:r>
            <a:endParaRPr lang="en-US" sz="900" dirty="0"/>
          </a:p>
        </p:txBody>
      </p:sp>
      <p:sp>
        <p:nvSpPr>
          <p:cNvPr id="64" name="Shape 54"/>
          <p:cNvSpPr/>
          <p:nvPr/>
        </p:nvSpPr>
        <p:spPr>
          <a:xfrm>
            <a:off x="9881006" y="2633472"/>
            <a:ext cx="1552651" cy="1714500"/>
          </a:xfrm>
          <a:prstGeom prst="roundRect">
            <a:avLst>
              <a:gd name="adj" fmla="val 8671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65" name="Shape 55"/>
          <p:cNvSpPr/>
          <p:nvPr/>
        </p:nvSpPr>
        <p:spPr>
          <a:xfrm>
            <a:off x="9881006" y="2633472"/>
            <a:ext cx="1529791" cy="19202"/>
          </a:xfrm>
          <a:prstGeom prst="roundRect">
            <a:avLst>
              <a:gd name="adj" fmla="val 4762004"/>
            </a:avLst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56"/>
          <p:cNvSpPr txBox="1"/>
          <p:nvPr/>
        </p:nvSpPr>
        <p:spPr>
          <a:xfrm>
            <a:off x="10081260" y="2833726"/>
            <a:ext cx="12289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4AF37">
                    <a:alpha val="8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800" dirty="0"/>
          </a:p>
        </p:txBody>
      </p:sp>
      <p:sp>
        <p:nvSpPr>
          <p:cNvPr id="67" name="Text 57"/>
          <p:cNvSpPr txBox="1"/>
          <p:nvPr/>
        </p:nvSpPr>
        <p:spPr>
          <a:xfrm>
            <a:off x="10081260" y="3224174"/>
            <a:ext cx="122895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4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 Up</a:t>
            </a:r>
            <a:endParaRPr lang="en-US" sz="1000" dirty="0"/>
          </a:p>
        </p:txBody>
      </p:sp>
      <p:sp>
        <p:nvSpPr>
          <p:cNvPr id="68" name="Text 58"/>
          <p:cNvSpPr txBox="1"/>
          <p:nvPr/>
        </p:nvSpPr>
        <p:spPr>
          <a:xfrm>
            <a:off x="10081260" y="3544214"/>
            <a:ext cx="12289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2,000+ Users</a:t>
            </a:r>
            <a:endParaRPr lang="en-US" sz="900" dirty="0"/>
          </a:p>
        </p:txBody>
      </p:sp>
      <p:sp>
        <p:nvSpPr>
          <p:cNvPr id="69" name="Text 59"/>
          <p:cNvSpPr txBox="1"/>
          <p:nvPr/>
        </p:nvSpPr>
        <p:spPr>
          <a:xfrm>
            <a:off x="10081260" y="3749954"/>
            <a:ext cx="12289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Premium Features</a:t>
            </a:r>
            <a:endParaRPr lang="en-US" sz="900" dirty="0"/>
          </a:p>
        </p:txBody>
      </p:sp>
      <p:sp>
        <p:nvSpPr>
          <p:cNvPr id="70" name="Text 60"/>
          <p:cNvSpPr txBox="1"/>
          <p:nvPr/>
        </p:nvSpPr>
        <p:spPr>
          <a:xfrm>
            <a:off x="10081260" y="3955694"/>
            <a:ext cx="12289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Series A Prep</a:t>
            </a:r>
            <a:endParaRPr lang="en-US" sz="900" dirty="0"/>
          </a:p>
        </p:txBody>
      </p:sp>
      <p:sp>
        <p:nvSpPr>
          <p:cNvPr id="71" name="Shape 61"/>
          <p:cNvSpPr/>
          <p:nvPr/>
        </p:nvSpPr>
        <p:spPr>
          <a:xfrm>
            <a:off x="6527902" y="5297119"/>
            <a:ext cx="9144" cy="41239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Text 62"/>
          <p:cNvSpPr txBox="1"/>
          <p:nvPr/>
        </p:nvSpPr>
        <p:spPr>
          <a:xfrm>
            <a:off x="5014570" y="5159959"/>
            <a:ext cx="14676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2,000+</a:t>
            </a:r>
            <a:endParaRPr lang="en-US" sz="2100" dirty="0"/>
          </a:p>
        </p:txBody>
      </p:sp>
      <p:sp>
        <p:nvSpPr>
          <p:cNvPr id="73" name="Text 63"/>
          <p:cNvSpPr txBox="1"/>
          <p:nvPr/>
        </p:nvSpPr>
        <p:spPr>
          <a:xfrm>
            <a:off x="5133442" y="5666537"/>
            <a:ext cx="122803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Registered Users</a:t>
            </a:r>
            <a:endParaRPr lang="en-US" sz="900" dirty="0"/>
          </a:p>
        </p:txBody>
      </p:sp>
      <p:sp>
        <p:nvSpPr>
          <p:cNvPr id="74" name="Shape 64"/>
          <p:cNvSpPr/>
          <p:nvPr/>
        </p:nvSpPr>
        <p:spPr>
          <a:xfrm>
            <a:off x="8107985" y="5297119"/>
            <a:ext cx="9144" cy="41239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Text 65"/>
          <p:cNvSpPr txBox="1"/>
          <p:nvPr/>
        </p:nvSpPr>
        <p:spPr>
          <a:xfrm>
            <a:off x="6594653" y="5159959"/>
            <a:ext cx="14676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$2M+</a:t>
            </a:r>
            <a:endParaRPr lang="en-US" sz="2100" dirty="0"/>
          </a:p>
        </p:txBody>
      </p:sp>
      <p:sp>
        <p:nvSpPr>
          <p:cNvPr id="76" name="Text 66"/>
          <p:cNvSpPr txBox="1"/>
          <p:nvPr/>
        </p:nvSpPr>
        <p:spPr>
          <a:xfrm>
            <a:off x="6672377" y="5666537"/>
            <a:ext cx="13149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Gross Transaction</a:t>
            </a:r>
            <a:endParaRPr lang="en-US" sz="900" dirty="0"/>
          </a:p>
        </p:txBody>
      </p:sp>
      <p:sp>
        <p:nvSpPr>
          <p:cNvPr id="77" name="Shape 67"/>
          <p:cNvSpPr/>
          <p:nvPr/>
        </p:nvSpPr>
        <p:spPr>
          <a:xfrm>
            <a:off x="9688068" y="5297119"/>
            <a:ext cx="9144" cy="41239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Text 68"/>
          <p:cNvSpPr txBox="1"/>
          <p:nvPr/>
        </p:nvSpPr>
        <p:spPr>
          <a:xfrm>
            <a:off x="8174736" y="5159959"/>
            <a:ext cx="14676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200+</a:t>
            </a:r>
            <a:endParaRPr lang="en-US" sz="2100" dirty="0"/>
          </a:p>
        </p:txBody>
      </p:sp>
      <p:sp>
        <p:nvSpPr>
          <p:cNvPr id="79" name="Text 69"/>
          <p:cNvSpPr txBox="1"/>
          <p:nvPr/>
        </p:nvSpPr>
        <p:spPr>
          <a:xfrm>
            <a:off x="8295437" y="5666537"/>
            <a:ext cx="12262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Listings Created</a:t>
            </a:r>
            <a:endParaRPr lang="en-US" sz="900" dirty="0"/>
          </a:p>
        </p:txBody>
      </p:sp>
      <p:sp>
        <p:nvSpPr>
          <p:cNvPr id="80" name="Text 70"/>
          <p:cNvSpPr txBox="1"/>
          <p:nvPr/>
        </p:nvSpPr>
        <p:spPr>
          <a:xfrm>
            <a:off x="9754819" y="5159959"/>
            <a:ext cx="146761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85%</a:t>
            </a:r>
            <a:endParaRPr lang="en-US" sz="2100" dirty="0"/>
          </a:p>
        </p:txBody>
      </p:sp>
      <p:sp>
        <p:nvSpPr>
          <p:cNvPr id="81" name="Text 71"/>
          <p:cNvSpPr txBox="1"/>
          <p:nvPr/>
        </p:nvSpPr>
        <p:spPr>
          <a:xfrm>
            <a:off x="9908438" y="5666537"/>
            <a:ext cx="11622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45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Settlement Rate</a:t>
            </a:r>
            <a:endParaRPr lang="en-US" sz="900" dirty="0"/>
          </a:p>
        </p:txBody>
      </p:sp>
      <p:pic>
        <p:nvPicPr>
          <p:cNvPr id="82" name="Image 8" descr="preencoded.png"/>
          <p:cNvPicPr>
            <a:picLocks noChangeAspect="1"/>
          </p:cNvPicPr>
          <p:nvPr/>
        </p:nvPicPr>
        <p:blipFill>
          <a:blip r:embed="rId11"/>
          <a:srcRect t="-299" b="-299"/>
          <a:stretch/>
        </p:blipFill>
        <p:spPr>
          <a:xfrm>
            <a:off x="6268212" y="2833726"/>
            <a:ext cx="152705" cy="19202"/>
          </a:xfrm>
          <a:prstGeom prst="rect">
            <a:avLst/>
          </a:prstGeom>
        </p:spPr>
      </p:pic>
      <p:pic>
        <p:nvPicPr>
          <p:cNvPr id="83" name="Image 9" descr="preencoded.png"/>
          <p:cNvPicPr>
            <a:picLocks noChangeAspect="1"/>
          </p:cNvPicPr>
          <p:nvPr/>
        </p:nvPicPr>
        <p:blipFill>
          <a:blip r:embed="rId11"/>
          <a:srcRect t="-299" b="-299"/>
          <a:stretch/>
        </p:blipFill>
        <p:spPr>
          <a:xfrm>
            <a:off x="7960766" y="2833726"/>
            <a:ext cx="152705" cy="19202"/>
          </a:xfrm>
          <a:prstGeom prst="rect">
            <a:avLst/>
          </a:prstGeom>
        </p:spPr>
      </p:pic>
      <p:pic>
        <p:nvPicPr>
          <p:cNvPr id="84" name="Image 10" descr="preencoded.png"/>
          <p:cNvPicPr>
            <a:picLocks noChangeAspect="1"/>
          </p:cNvPicPr>
          <p:nvPr/>
        </p:nvPicPr>
        <p:blipFill>
          <a:blip r:embed="rId11"/>
          <a:srcRect t="-299" b="-299"/>
          <a:stretch/>
        </p:blipFill>
        <p:spPr>
          <a:xfrm>
            <a:off x="9652406" y="2833726"/>
            <a:ext cx="152705" cy="192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8" r="-8"/>
          <a:stretch/>
        </p:blipFill>
        <p:spPr>
          <a:xfrm>
            <a:off x="3657600" y="-952805"/>
            <a:ext cx="5715000" cy="190469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5" r="-5"/>
          <a:stretch/>
        </p:blipFill>
        <p:spPr>
          <a:xfrm>
            <a:off x="6210605" y="5905195"/>
            <a:ext cx="4762195" cy="190469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670487" y="6413602"/>
            <a:ext cx="219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2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571500" y="120133"/>
            <a:ext cx="11163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3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Go-To-Market Strategy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571500" y="361534"/>
            <a:ext cx="112398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Land, Expand, Dominate</a:t>
            </a:r>
            <a:endParaRPr lang="en-US" sz="2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385" r="-385"/>
          <a:stretch/>
        </p:blipFill>
        <p:spPr>
          <a:xfrm>
            <a:off x="571500" y="858968"/>
            <a:ext cx="761695" cy="2834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75245" y="1020470"/>
            <a:ext cx="10858500" cy="38405"/>
          </a:xfrm>
          <a:prstGeom prst="roundRect">
            <a:avLst>
              <a:gd name="adj" fmla="val 238094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399" b="-399"/>
          <a:stretch/>
        </p:blipFill>
        <p:spPr>
          <a:xfrm>
            <a:off x="575245" y="1020470"/>
            <a:ext cx="9229954" cy="38405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154974" y="1134770"/>
            <a:ext cx="102047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Phase 1: Taiwan</a:t>
            </a:r>
            <a:endParaRPr lang="en-US" sz="900" dirty="0"/>
          </a:p>
        </p:txBody>
      </p:sp>
      <p:sp>
        <p:nvSpPr>
          <p:cNvPr id="13" name="Text 7"/>
          <p:cNvSpPr txBox="1"/>
          <p:nvPr/>
        </p:nvSpPr>
        <p:spPr>
          <a:xfrm>
            <a:off x="5355728" y="1134770"/>
            <a:ext cx="13039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Phase 2: Hong Kong</a:t>
            </a:r>
            <a:endParaRPr lang="en-US" sz="900" dirty="0"/>
          </a:p>
        </p:txBody>
      </p:sp>
      <p:sp>
        <p:nvSpPr>
          <p:cNvPr id="14" name="Text 8"/>
          <p:cNvSpPr txBox="1"/>
          <p:nvPr/>
        </p:nvSpPr>
        <p:spPr>
          <a:xfrm>
            <a:off x="9889323" y="1134770"/>
            <a:ext cx="91897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Phase 3: APAC</a:t>
            </a:r>
            <a:endParaRPr lang="en-US" sz="9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83473" y="1134769"/>
            <a:ext cx="152705" cy="15270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508210" y="1329843"/>
            <a:ext cx="4864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 2026</a:t>
            </a:r>
            <a:endParaRPr lang="en-US" sz="8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746945" y="1129283"/>
            <a:ext cx="152705" cy="152705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2658444" y="1329386"/>
            <a:ext cx="5056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 2026</a:t>
            </a:r>
            <a:endParaRPr lang="en-US" sz="8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886183" y="1133371"/>
            <a:ext cx="152705" cy="152705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4806347" y="1330886"/>
            <a:ext cx="5056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 2026</a:t>
            </a:r>
            <a:endParaRPr lang="en-US" sz="8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090345" y="1137991"/>
            <a:ext cx="152705" cy="152705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6989020" y="1327273"/>
            <a:ext cx="5056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 2026</a:t>
            </a:r>
            <a:endParaRPr lang="en-US" sz="800" dirty="0"/>
          </a:p>
        </p:txBody>
      </p:sp>
      <p:sp>
        <p:nvSpPr>
          <p:cNvPr id="23" name="Shape 13"/>
          <p:cNvSpPr/>
          <p:nvPr/>
        </p:nvSpPr>
        <p:spPr>
          <a:xfrm>
            <a:off x="9724055" y="1133371"/>
            <a:ext cx="152705" cy="152705"/>
          </a:xfrm>
          <a:prstGeom prst="ellipse">
            <a:avLst/>
          </a:prstGeom>
          <a:solidFill>
            <a:srgbClr val="050505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24" name="Text 14"/>
          <p:cNvSpPr txBox="1"/>
          <p:nvPr/>
        </p:nvSpPr>
        <p:spPr>
          <a:xfrm>
            <a:off x="9707989" y="1330886"/>
            <a:ext cx="4005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2027+</a:t>
            </a:r>
            <a:endParaRPr lang="en-US" sz="800" dirty="0"/>
          </a:p>
        </p:txBody>
      </p:sp>
      <p:sp>
        <p:nvSpPr>
          <p:cNvPr id="25" name="Shape 15"/>
          <p:cNvSpPr/>
          <p:nvPr/>
        </p:nvSpPr>
        <p:spPr>
          <a:xfrm>
            <a:off x="604418" y="1940704"/>
            <a:ext cx="3562502" cy="5362956"/>
          </a:xfrm>
          <a:prstGeom prst="roundRect">
            <a:avLst>
              <a:gd name="adj" fmla="val 1373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6" name="Shape 16"/>
          <p:cNvSpPr/>
          <p:nvPr/>
        </p:nvSpPr>
        <p:spPr>
          <a:xfrm>
            <a:off x="480147" y="1486814"/>
            <a:ext cx="3536899" cy="19202"/>
          </a:xfrm>
          <a:prstGeom prst="roundRect">
            <a:avLst>
              <a:gd name="adj" fmla="val 476200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17"/>
          <p:cNvSpPr/>
          <p:nvPr/>
        </p:nvSpPr>
        <p:spPr>
          <a:xfrm>
            <a:off x="680401" y="2601468"/>
            <a:ext cx="31619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18"/>
          <p:cNvSpPr/>
          <p:nvPr/>
        </p:nvSpPr>
        <p:spPr>
          <a:xfrm>
            <a:off x="680401" y="1696212"/>
            <a:ext cx="609905" cy="237744"/>
          </a:xfrm>
          <a:prstGeom prst="roundRect">
            <a:avLst>
              <a:gd name="adj" fmla="val 123077"/>
            </a:avLst>
          </a:prstGeom>
          <a:solidFill>
            <a:srgbClr val="D4AF37">
              <a:alpha val="10000"/>
            </a:srgbClr>
          </a:solidFill>
          <a:ln w="12700">
            <a:solidFill>
              <a:srgbClr val="D4AF37">
                <a:alpha val="20000"/>
              </a:srgbClr>
            </a:solidFill>
            <a:prstDash val="solid"/>
          </a:ln>
        </p:spPr>
      </p:sp>
      <p:sp>
        <p:nvSpPr>
          <p:cNvPr id="29" name="Text 19"/>
          <p:cNvSpPr txBox="1"/>
          <p:nvPr/>
        </p:nvSpPr>
        <p:spPr>
          <a:xfrm>
            <a:off x="680401" y="1696212"/>
            <a:ext cx="66751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kern="0" spc="42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Phase 1</a:t>
            </a:r>
            <a:endParaRPr lang="en-US" sz="800" dirty="0"/>
          </a:p>
        </p:txBody>
      </p:sp>
      <p:sp>
        <p:nvSpPr>
          <p:cNvPr id="30" name="Text 20"/>
          <p:cNvSpPr txBox="1"/>
          <p:nvPr/>
        </p:nvSpPr>
        <p:spPr>
          <a:xfrm>
            <a:off x="680401" y="2008936"/>
            <a:ext cx="32772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Taiwan Launch</a:t>
            </a:r>
            <a:endParaRPr lang="en-US" sz="1500" dirty="0"/>
          </a:p>
        </p:txBody>
      </p:sp>
      <p:sp>
        <p:nvSpPr>
          <p:cNvPr id="31" name="Text 21"/>
          <p:cNvSpPr txBox="1"/>
          <p:nvPr/>
        </p:nvSpPr>
        <p:spPr>
          <a:xfrm>
            <a:off x="842249" y="2284171"/>
            <a:ext cx="31153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Q1 – Q2 2026 </a:t>
            </a:r>
            <a:endParaRPr lang="en-US" sz="1000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680401" y="2324404"/>
            <a:ext cx="105156" cy="114300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680401" y="2802636"/>
            <a:ext cx="171907" cy="171907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9"/>
          <a:srcRect l="-1923" r="-1923"/>
          <a:stretch/>
        </p:blipFill>
        <p:spPr>
          <a:xfrm>
            <a:off x="704175" y="2841040"/>
            <a:ext cx="123444" cy="95098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680401" y="2974543"/>
            <a:ext cx="32772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CTP Partnership</a:t>
            </a:r>
            <a:endParaRPr lang="en-US" sz="1000" dirty="0"/>
          </a:p>
        </p:txBody>
      </p:sp>
      <p:sp>
        <p:nvSpPr>
          <p:cNvPr id="36" name="Text 24"/>
          <p:cNvSpPr txBox="1"/>
          <p:nvPr/>
        </p:nvSpPr>
        <p:spPr>
          <a:xfrm>
            <a:off x="680401" y="3199485"/>
            <a:ext cx="3238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Direct access to 302K registered players at #1 global venue.</a:t>
            </a:r>
            <a:endParaRPr lang="en-US" sz="900" dirty="0"/>
          </a:p>
        </p:txBody>
      </p:sp>
      <p:sp>
        <p:nvSpPr>
          <p:cNvPr id="37" name="Shape 25"/>
          <p:cNvSpPr/>
          <p:nvPr/>
        </p:nvSpPr>
        <p:spPr>
          <a:xfrm>
            <a:off x="680401" y="3667658"/>
            <a:ext cx="171907" cy="171907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10"/>
          <a:srcRect l="-3419" r="-3419"/>
          <a:stretch/>
        </p:blipFill>
        <p:spPr>
          <a:xfrm>
            <a:off x="708747" y="3706063"/>
            <a:ext cx="114300" cy="95098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680401" y="3838651"/>
            <a:ext cx="32772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APT Sponsorship</a:t>
            </a:r>
            <a:endParaRPr lang="en-US" sz="1000" dirty="0"/>
          </a:p>
        </p:txBody>
      </p:sp>
      <p:sp>
        <p:nvSpPr>
          <p:cNvPr id="40" name="Text 27"/>
          <p:cNvSpPr txBox="1"/>
          <p:nvPr/>
        </p:nvSpPr>
        <p:spPr>
          <a:xfrm>
            <a:off x="680401" y="4063593"/>
            <a:ext cx="3238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Major physical event presence in Taipei during tournament series.</a:t>
            </a:r>
            <a:endParaRPr lang="en-US" sz="900" dirty="0"/>
          </a:p>
        </p:txBody>
      </p:sp>
      <p:sp>
        <p:nvSpPr>
          <p:cNvPr id="41" name="Shape 28"/>
          <p:cNvSpPr/>
          <p:nvPr/>
        </p:nvSpPr>
        <p:spPr>
          <a:xfrm>
            <a:off x="680401" y="4532680"/>
            <a:ext cx="171907" cy="171907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1"/>
          <a:srcRect l="-3205" r="-3205"/>
          <a:stretch/>
        </p:blipFill>
        <p:spPr>
          <a:xfrm>
            <a:off x="727949" y="4570171"/>
            <a:ext cx="75895" cy="95098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680401" y="4703673"/>
            <a:ext cx="32772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0% Fee Campaign</a:t>
            </a:r>
            <a:endParaRPr lang="en-US" sz="1000" dirty="0"/>
          </a:p>
        </p:txBody>
      </p:sp>
      <p:sp>
        <p:nvSpPr>
          <p:cNvPr id="44" name="Text 30"/>
          <p:cNvSpPr txBox="1"/>
          <p:nvPr/>
        </p:nvSpPr>
        <p:spPr>
          <a:xfrm>
            <a:off x="680401" y="4928616"/>
            <a:ext cx="37517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Aggressive user acquisition strategy for early adopters.</a:t>
            </a:r>
            <a:endParaRPr lang="en-US" sz="900" dirty="0"/>
          </a:p>
        </p:txBody>
      </p:sp>
      <p:sp>
        <p:nvSpPr>
          <p:cNvPr id="45" name="Shape 31"/>
          <p:cNvSpPr/>
          <p:nvPr/>
        </p:nvSpPr>
        <p:spPr>
          <a:xfrm>
            <a:off x="680401" y="5248656"/>
            <a:ext cx="171907" cy="171907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6" name="Image 12" descr="preencoded.png"/>
          <p:cNvPicPr>
            <a:picLocks noChangeAspect="1"/>
          </p:cNvPicPr>
          <p:nvPr/>
        </p:nvPicPr>
        <p:blipFill>
          <a:blip r:embed="rId12"/>
          <a:srcRect l="-3419" r="-3419"/>
          <a:stretch/>
        </p:blipFill>
        <p:spPr>
          <a:xfrm>
            <a:off x="708747" y="5287060"/>
            <a:ext cx="114300" cy="95098"/>
          </a:xfrm>
          <a:prstGeom prst="rect">
            <a:avLst/>
          </a:prstGeom>
        </p:spPr>
      </p:pic>
      <p:sp>
        <p:nvSpPr>
          <p:cNvPr id="47" name="Text 32"/>
          <p:cNvSpPr txBox="1"/>
          <p:nvPr/>
        </p:nvSpPr>
        <p:spPr>
          <a:xfrm>
            <a:off x="680401" y="5420563"/>
            <a:ext cx="32772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Local Payments</a:t>
            </a:r>
            <a:endParaRPr lang="en-US" sz="1000" dirty="0"/>
          </a:p>
        </p:txBody>
      </p:sp>
      <p:sp>
        <p:nvSpPr>
          <p:cNvPr id="48" name="Shape 33"/>
          <p:cNvSpPr/>
          <p:nvPr/>
        </p:nvSpPr>
        <p:spPr>
          <a:xfrm>
            <a:off x="680401" y="5673852"/>
            <a:ext cx="371246" cy="181051"/>
          </a:xfrm>
          <a:prstGeom prst="roundRect">
            <a:avLst>
              <a:gd name="adj" fmla="val 15949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34"/>
          <p:cNvSpPr txBox="1"/>
          <p:nvPr/>
        </p:nvSpPr>
        <p:spPr>
          <a:xfrm>
            <a:off x="680401" y="5673852"/>
            <a:ext cx="448056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25400" rIns="508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ECPay</a:t>
            </a:r>
            <a:endParaRPr lang="en-US" sz="800" dirty="0"/>
          </a:p>
        </p:txBody>
      </p:sp>
      <p:sp>
        <p:nvSpPr>
          <p:cNvPr id="50" name="Shape 35"/>
          <p:cNvSpPr/>
          <p:nvPr/>
        </p:nvSpPr>
        <p:spPr>
          <a:xfrm>
            <a:off x="1103768" y="5673852"/>
            <a:ext cx="466344" cy="181051"/>
          </a:xfrm>
          <a:prstGeom prst="roundRect">
            <a:avLst>
              <a:gd name="adj" fmla="val 15949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36"/>
          <p:cNvSpPr txBox="1"/>
          <p:nvPr/>
        </p:nvSpPr>
        <p:spPr>
          <a:xfrm>
            <a:off x="1103768" y="5673852"/>
            <a:ext cx="543154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25400" rIns="508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LINE Pay</a:t>
            </a:r>
            <a:endParaRPr lang="en-US" sz="800" dirty="0"/>
          </a:p>
        </p:txBody>
      </p:sp>
      <p:sp>
        <p:nvSpPr>
          <p:cNvPr id="52" name="Shape 37"/>
          <p:cNvSpPr/>
          <p:nvPr/>
        </p:nvSpPr>
        <p:spPr>
          <a:xfrm>
            <a:off x="1624976" y="5673852"/>
            <a:ext cx="428854" cy="181051"/>
          </a:xfrm>
          <a:prstGeom prst="roundRect">
            <a:avLst>
              <a:gd name="adj" fmla="val 15949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38"/>
          <p:cNvSpPr txBox="1"/>
          <p:nvPr/>
        </p:nvSpPr>
        <p:spPr>
          <a:xfrm>
            <a:off x="1624976" y="5673852"/>
            <a:ext cx="505663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25400" rIns="508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JKoPay</a:t>
            </a:r>
            <a:endParaRPr lang="en-US" sz="800" dirty="0"/>
          </a:p>
        </p:txBody>
      </p:sp>
      <p:sp>
        <p:nvSpPr>
          <p:cNvPr id="54" name="Shape 39"/>
          <p:cNvSpPr/>
          <p:nvPr/>
        </p:nvSpPr>
        <p:spPr>
          <a:xfrm>
            <a:off x="680401" y="5992063"/>
            <a:ext cx="3161995" cy="657454"/>
          </a:xfrm>
          <a:prstGeom prst="roundRect">
            <a:avLst>
              <a:gd name="adj" fmla="val 24188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5" name="Text 40"/>
          <p:cNvSpPr txBox="1"/>
          <p:nvPr/>
        </p:nvSpPr>
        <p:spPr>
          <a:xfrm>
            <a:off x="1293963" y="6115507"/>
            <a:ext cx="4005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500</a:t>
            </a:r>
            <a:endParaRPr lang="en-US" sz="1300" dirty="0"/>
          </a:p>
        </p:txBody>
      </p:sp>
      <p:sp>
        <p:nvSpPr>
          <p:cNvPr id="56" name="Text 41"/>
          <p:cNvSpPr txBox="1"/>
          <p:nvPr/>
        </p:nvSpPr>
        <p:spPr>
          <a:xfrm>
            <a:off x="1109254" y="6386169"/>
            <a:ext cx="7626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6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Target Users</a:t>
            </a:r>
            <a:endParaRPr lang="en-US" sz="800" dirty="0"/>
          </a:p>
        </p:txBody>
      </p:sp>
      <p:pic>
        <p:nvPicPr>
          <p:cNvPr id="57" name="Image 13" descr="preencoded.png"/>
          <p:cNvPicPr>
            <a:picLocks noChangeAspect="1"/>
          </p:cNvPicPr>
          <p:nvPr/>
        </p:nvPicPr>
        <p:blipFill>
          <a:blip r:embed="rId13"/>
          <a:srcRect t="-2089" b="-2089"/>
          <a:stretch/>
        </p:blipFill>
        <p:spPr>
          <a:xfrm>
            <a:off x="2253169" y="6115507"/>
            <a:ext cx="9144" cy="407822"/>
          </a:xfrm>
          <a:prstGeom prst="rect">
            <a:avLst/>
          </a:prstGeom>
        </p:spPr>
      </p:pic>
      <p:sp>
        <p:nvSpPr>
          <p:cNvPr id="58" name="Text 42"/>
          <p:cNvSpPr txBox="1"/>
          <p:nvPr/>
        </p:nvSpPr>
        <p:spPr>
          <a:xfrm>
            <a:off x="2725913" y="6115507"/>
            <a:ext cx="609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$500K</a:t>
            </a:r>
            <a:endParaRPr lang="en-US" sz="1300" dirty="0"/>
          </a:p>
        </p:txBody>
      </p:sp>
      <p:sp>
        <p:nvSpPr>
          <p:cNvPr id="59" name="Text 43"/>
          <p:cNvSpPr txBox="1"/>
          <p:nvPr/>
        </p:nvSpPr>
        <p:spPr>
          <a:xfrm>
            <a:off x="2706711" y="6386169"/>
            <a:ext cx="648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6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Target GTV</a:t>
            </a:r>
            <a:endParaRPr lang="en-US" sz="800" dirty="0"/>
          </a:p>
        </p:txBody>
      </p:sp>
      <p:sp>
        <p:nvSpPr>
          <p:cNvPr id="60" name="Shape 44"/>
          <p:cNvSpPr/>
          <p:nvPr/>
        </p:nvSpPr>
        <p:spPr>
          <a:xfrm>
            <a:off x="4350715" y="1940704"/>
            <a:ext cx="3562502" cy="5362956"/>
          </a:xfrm>
          <a:prstGeom prst="roundRect">
            <a:avLst>
              <a:gd name="adj" fmla="val 1373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61" name="Shape 45"/>
          <p:cNvSpPr/>
          <p:nvPr/>
        </p:nvSpPr>
        <p:spPr>
          <a:xfrm>
            <a:off x="4226444" y="1486814"/>
            <a:ext cx="3536899" cy="19202"/>
          </a:xfrm>
          <a:prstGeom prst="roundRect">
            <a:avLst>
              <a:gd name="adj" fmla="val 476200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46"/>
          <p:cNvSpPr/>
          <p:nvPr/>
        </p:nvSpPr>
        <p:spPr>
          <a:xfrm>
            <a:off x="4426697" y="2601468"/>
            <a:ext cx="31619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47"/>
          <p:cNvSpPr/>
          <p:nvPr/>
        </p:nvSpPr>
        <p:spPr>
          <a:xfrm>
            <a:off x="4426697" y="1696212"/>
            <a:ext cx="629107" cy="237744"/>
          </a:xfrm>
          <a:prstGeom prst="roundRect">
            <a:avLst>
              <a:gd name="adj" fmla="val 123077"/>
            </a:avLst>
          </a:prstGeom>
          <a:solidFill>
            <a:srgbClr val="D4AF37">
              <a:alpha val="10000"/>
            </a:srgbClr>
          </a:solidFill>
          <a:ln w="12700">
            <a:solidFill>
              <a:srgbClr val="D4AF37">
                <a:alpha val="20000"/>
              </a:srgbClr>
            </a:solidFill>
            <a:prstDash val="solid"/>
          </a:ln>
        </p:spPr>
      </p:sp>
      <p:sp>
        <p:nvSpPr>
          <p:cNvPr id="64" name="Text 48"/>
          <p:cNvSpPr txBox="1"/>
          <p:nvPr/>
        </p:nvSpPr>
        <p:spPr>
          <a:xfrm>
            <a:off x="4426697" y="1696212"/>
            <a:ext cx="6858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kern="0" spc="42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Phase 2</a:t>
            </a:r>
            <a:endParaRPr lang="en-US" sz="800" dirty="0"/>
          </a:p>
        </p:txBody>
      </p:sp>
      <p:sp>
        <p:nvSpPr>
          <p:cNvPr id="65" name="Text 49"/>
          <p:cNvSpPr txBox="1"/>
          <p:nvPr/>
        </p:nvSpPr>
        <p:spPr>
          <a:xfrm>
            <a:off x="4426697" y="2008936"/>
            <a:ext cx="32772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Hong Kong Expansion</a:t>
            </a:r>
            <a:endParaRPr lang="en-US" sz="1500" dirty="0"/>
          </a:p>
        </p:txBody>
      </p:sp>
      <p:sp>
        <p:nvSpPr>
          <p:cNvPr id="66" name="Text 50"/>
          <p:cNvSpPr txBox="1"/>
          <p:nvPr/>
        </p:nvSpPr>
        <p:spPr>
          <a:xfrm>
            <a:off x="4588546" y="2284171"/>
            <a:ext cx="31153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Q3 – Q4 2026 </a:t>
            </a:r>
            <a:endParaRPr lang="en-US" sz="1000" dirty="0"/>
          </a:p>
        </p:txBody>
      </p:sp>
      <p:pic>
        <p:nvPicPr>
          <p:cNvPr id="67" name="Image 14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4426697" y="2324404"/>
            <a:ext cx="105156" cy="114300"/>
          </a:xfrm>
          <a:prstGeom prst="rect">
            <a:avLst/>
          </a:prstGeom>
        </p:spPr>
      </p:pic>
      <p:sp>
        <p:nvSpPr>
          <p:cNvPr id="68" name="Shape 51"/>
          <p:cNvSpPr/>
          <p:nvPr/>
        </p:nvSpPr>
        <p:spPr>
          <a:xfrm>
            <a:off x="4426697" y="2802636"/>
            <a:ext cx="171907" cy="171907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9" name="Image 15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465102" y="2841040"/>
            <a:ext cx="95098" cy="95098"/>
          </a:xfrm>
          <a:prstGeom prst="rect">
            <a:avLst/>
          </a:prstGeom>
        </p:spPr>
      </p:pic>
      <p:sp>
        <p:nvSpPr>
          <p:cNvPr id="70" name="Text 52"/>
          <p:cNvSpPr txBox="1"/>
          <p:nvPr/>
        </p:nvSpPr>
        <p:spPr>
          <a:xfrm>
            <a:off x="4426697" y="2974543"/>
            <a:ext cx="32772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Local Payment Rail</a:t>
            </a:r>
            <a:endParaRPr lang="en-US" sz="1000" dirty="0"/>
          </a:p>
        </p:txBody>
      </p:sp>
      <p:sp>
        <p:nvSpPr>
          <p:cNvPr id="71" name="Shape 53"/>
          <p:cNvSpPr/>
          <p:nvPr/>
        </p:nvSpPr>
        <p:spPr>
          <a:xfrm>
            <a:off x="4426697" y="3227832"/>
            <a:ext cx="485546" cy="181051"/>
          </a:xfrm>
          <a:prstGeom prst="roundRect">
            <a:avLst>
              <a:gd name="adj" fmla="val 15949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Text 54"/>
          <p:cNvSpPr txBox="1"/>
          <p:nvPr/>
        </p:nvSpPr>
        <p:spPr>
          <a:xfrm>
            <a:off x="4426697" y="3227832"/>
            <a:ext cx="562356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25400" rIns="508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AlipayHK</a:t>
            </a:r>
            <a:endParaRPr lang="en-US" sz="800" dirty="0"/>
          </a:p>
        </p:txBody>
      </p:sp>
      <p:sp>
        <p:nvSpPr>
          <p:cNvPr id="73" name="Shape 55"/>
          <p:cNvSpPr/>
          <p:nvPr/>
        </p:nvSpPr>
        <p:spPr>
          <a:xfrm>
            <a:off x="4963450" y="3227832"/>
            <a:ext cx="390449" cy="181051"/>
          </a:xfrm>
          <a:prstGeom prst="roundRect">
            <a:avLst>
              <a:gd name="adj" fmla="val 15949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Text 56"/>
          <p:cNvSpPr txBox="1"/>
          <p:nvPr/>
        </p:nvSpPr>
        <p:spPr>
          <a:xfrm>
            <a:off x="4963450" y="3227832"/>
            <a:ext cx="467258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25400" rIns="508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PayMe</a:t>
            </a:r>
            <a:endParaRPr lang="en-US" sz="800" dirty="0"/>
          </a:p>
        </p:txBody>
      </p:sp>
      <p:sp>
        <p:nvSpPr>
          <p:cNvPr id="75" name="Shape 57"/>
          <p:cNvSpPr/>
          <p:nvPr/>
        </p:nvSpPr>
        <p:spPr>
          <a:xfrm>
            <a:off x="5409677" y="3227832"/>
            <a:ext cx="256946" cy="181051"/>
          </a:xfrm>
          <a:prstGeom prst="roundRect">
            <a:avLst>
              <a:gd name="adj" fmla="val 15949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Text 58"/>
          <p:cNvSpPr txBox="1"/>
          <p:nvPr/>
        </p:nvSpPr>
        <p:spPr>
          <a:xfrm>
            <a:off x="5409677" y="3227832"/>
            <a:ext cx="333756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25400" rIns="508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FPS</a:t>
            </a:r>
            <a:endParaRPr lang="en-US" sz="800" dirty="0"/>
          </a:p>
        </p:txBody>
      </p:sp>
      <p:sp>
        <p:nvSpPr>
          <p:cNvPr id="77" name="Shape 59"/>
          <p:cNvSpPr/>
          <p:nvPr/>
        </p:nvSpPr>
        <p:spPr>
          <a:xfrm>
            <a:off x="4426697" y="3574389"/>
            <a:ext cx="171907" cy="171907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8" name="Image 16" descr="preencoded.png"/>
          <p:cNvPicPr>
            <a:picLocks noChangeAspect="1"/>
          </p:cNvPicPr>
          <p:nvPr/>
        </p:nvPicPr>
        <p:blipFill>
          <a:blip r:embed="rId15"/>
          <a:srcRect l="-1923" r="-1923"/>
          <a:stretch/>
        </p:blipFill>
        <p:spPr>
          <a:xfrm>
            <a:off x="4450472" y="3612794"/>
            <a:ext cx="123444" cy="95098"/>
          </a:xfrm>
          <a:prstGeom prst="rect">
            <a:avLst/>
          </a:prstGeom>
        </p:spPr>
      </p:pic>
      <p:sp>
        <p:nvSpPr>
          <p:cNvPr id="79" name="Text 60"/>
          <p:cNvSpPr txBox="1"/>
          <p:nvPr/>
        </p:nvSpPr>
        <p:spPr>
          <a:xfrm>
            <a:off x="4426697" y="3746296"/>
            <a:ext cx="32772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Macau Coverage</a:t>
            </a:r>
            <a:endParaRPr lang="en-US" sz="1000" dirty="0"/>
          </a:p>
        </p:txBody>
      </p:sp>
      <p:sp>
        <p:nvSpPr>
          <p:cNvPr id="80" name="Text 61"/>
          <p:cNvSpPr txBox="1"/>
          <p:nvPr/>
        </p:nvSpPr>
        <p:spPr>
          <a:xfrm>
            <a:off x="4426697" y="3970324"/>
            <a:ext cx="3238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Targeting high-roller cash games and cross-border staking.</a:t>
            </a:r>
            <a:endParaRPr lang="en-US" sz="900" dirty="0"/>
          </a:p>
        </p:txBody>
      </p:sp>
      <p:sp>
        <p:nvSpPr>
          <p:cNvPr id="81" name="Shape 62"/>
          <p:cNvSpPr/>
          <p:nvPr/>
        </p:nvSpPr>
        <p:spPr>
          <a:xfrm>
            <a:off x="4426697" y="4439412"/>
            <a:ext cx="171907" cy="171907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2" name="Image 17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4465102" y="4477816"/>
            <a:ext cx="95098" cy="95098"/>
          </a:xfrm>
          <a:prstGeom prst="rect">
            <a:avLst/>
          </a:prstGeom>
        </p:spPr>
      </p:pic>
      <p:sp>
        <p:nvSpPr>
          <p:cNvPr id="83" name="Text 63"/>
          <p:cNvSpPr txBox="1"/>
          <p:nvPr/>
        </p:nvSpPr>
        <p:spPr>
          <a:xfrm>
            <a:off x="4426697" y="4610404"/>
            <a:ext cx="32772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Crypto Integration</a:t>
            </a:r>
            <a:endParaRPr lang="en-US" sz="1000" dirty="0"/>
          </a:p>
        </p:txBody>
      </p:sp>
      <p:sp>
        <p:nvSpPr>
          <p:cNvPr id="84" name="Text 64"/>
          <p:cNvSpPr txBox="1"/>
          <p:nvPr/>
        </p:nvSpPr>
        <p:spPr>
          <a:xfrm>
            <a:off x="4426697" y="4835347"/>
            <a:ext cx="3238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Support for BTC, ETH, and USDT for frictionless large transfers.</a:t>
            </a:r>
            <a:endParaRPr lang="en-US" sz="900" dirty="0"/>
          </a:p>
        </p:txBody>
      </p:sp>
      <p:sp>
        <p:nvSpPr>
          <p:cNvPr id="85" name="Shape 65"/>
          <p:cNvSpPr/>
          <p:nvPr/>
        </p:nvSpPr>
        <p:spPr>
          <a:xfrm>
            <a:off x="4426697" y="5992063"/>
            <a:ext cx="3161995" cy="657454"/>
          </a:xfrm>
          <a:prstGeom prst="roundRect">
            <a:avLst>
              <a:gd name="adj" fmla="val 24188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6" name="Text 66"/>
          <p:cNvSpPr txBox="1"/>
          <p:nvPr/>
        </p:nvSpPr>
        <p:spPr>
          <a:xfrm>
            <a:off x="4962536" y="6115507"/>
            <a:ext cx="5532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2,000</a:t>
            </a:r>
            <a:endParaRPr lang="en-US" sz="1300" dirty="0"/>
          </a:p>
        </p:txBody>
      </p:sp>
      <p:sp>
        <p:nvSpPr>
          <p:cNvPr id="87" name="Text 67"/>
          <p:cNvSpPr txBox="1"/>
          <p:nvPr/>
        </p:nvSpPr>
        <p:spPr>
          <a:xfrm>
            <a:off x="4856465" y="6386169"/>
            <a:ext cx="7626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6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Target Users</a:t>
            </a:r>
            <a:endParaRPr lang="en-US" sz="800" dirty="0"/>
          </a:p>
        </p:txBody>
      </p:sp>
      <p:pic>
        <p:nvPicPr>
          <p:cNvPr id="88" name="Image 18" descr="preencoded.png"/>
          <p:cNvPicPr>
            <a:picLocks noChangeAspect="1"/>
          </p:cNvPicPr>
          <p:nvPr/>
        </p:nvPicPr>
        <p:blipFill>
          <a:blip r:embed="rId13"/>
          <a:srcRect t="-2089" b="-2089"/>
          <a:stretch/>
        </p:blipFill>
        <p:spPr>
          <a:xfrm>
            <a:off x="5999465" y="6115507"/>
            <a:ext cx="9144" cy="407822"/>
          </a:xfrm>
          <a:prstGeom prst="rect">
            <a:avLst/>
          </a:prstGeom>
        </p:spPr>
      </p:pic>
      <p:sp>
        <p:nvSpPr>
          <p:cNvPr id="89" name="Text 68"/>
          <p:cNvSpPr txBox="1"/>
          <p:nvPr/>
        </p:nvSpPr>
        <p:spPr>
          <a:xfrm>
            <a:off x="6481354" y="6115507"/>
            <a:ext cx="5907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$2.0M</a:t>
            </a:r>
            <a:endParaRPr lang="en-US" sz="1300" dirty="0"/>
          </a:p>
        </p:txBody>
      </p:sp>
      <p:sp>
        <p:nvSpPr>
          <p:cNvPr id="90" name="Text 69"/>
          <p:cNvSpPr txBox="1"/>
          <p:nvPr/>
        </p:nvSpPr>
        <p:spPr>
          <a:xfrm>
            <a:off x="6453008" y="6386169"/>
            <a:ext cx="648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6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Target GTV</a:t>
            </a:r>
            <a:endParaRPr lang="en-US" sz="800" dirty="0"/>
          </a:p>
        </p:txBody>
      </p:sp>
      <p:sp>
        <p:nvSpPr>
          <p:cNvPr id="91" name="Shape 70"/>
          <p:cNvSpPr/>
          <p:nvPr/>
        </p:nvSpPr>
        <p:spPr>
          <a:xfrm>
            <a:off x="8097012" y="1940704"/>
            <a:ext cx="3562502" cy="5362956"/>
          </a:xfrm>
          <a:prstGeom prst="roundRect">
            <a:avLst>
              <a:gd name="adj" fmla="val 1373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92" name="Shape 71"/>
          <p:cNvSpPr/>
          <p:nvPr/>
        </p:nvSpPr>
        <p:spPr>
          <a:xfrm>
            <a:off x="7972741" y="1486814"/>
            <a:ext cx="3536899" cy="19202"/>
          </a:xfrm>
          <a:prstGeom prst="roundRect">
            <a:avLst>
              <a:gd name="adj" fmla="val 476200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72"/>
          <p:cNvSpPr/>
          <p:nvPr/>
        </p:nvSpPr>
        <p:spPr>
          <a:xfrm>
            <a:off x="8172994" y="2601468"/>
            <a:ext cx="31619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73"/>
          <p:cNvSpPr/>
          <p:nvPr/>
        </p:nvSpPr>
        <p:spPr>
          <a:xfrm>
            <a:off x="8172994" y="1696212"/>
            <a:ext cx="629107" cy="237744"/>
          </a:xfrm>
          <a:prstGeom prst="roundRect">
            <a:avLst>
              <a:gd name="adj" fmla="val 123077"/>
            </a:avLst>
          </a:prstGeom>
          <a:solidFill>
            <a:srgbClr val="D4AF37">
              <a:alpha val="10000"/>
            </a:srgbClr>
          </a:solidFill>
          <a:ln w="12700">
            <a:solidFill>
              <a:srgbClr val="D4AF37">
                <a:alpha val="20000"/>
              </a:srgbClr>
            </a:solidFill>
            <a:prstDash val="solid"/>
          </a:ln>
        </p:spPr>
      </p:sp>
      <p:sp>
        <p:nvSpPr>
          <p:cNvPr id="95" name="Text 74"/>
          <p:cNvSpPr txBox="1"/>
          <p:nvPr/>
        </p:nvSpPr>
        <p:spPr>
          <a:xfrm>
            <a:off x="8172994" y="1696212"/>
            <a:ext cx="6858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 kern="0" spc="42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Phase 3</a:t>
            </a:r>
            <a:endParaRPr lang="en-US" sz="800" dirty="0"/>
          </a:p>
        </p:txBody>
      </p:sp>
      <p:sp>
        <p:nvSpPr>
          <p:cNvPr id="96" name="Text 75"/>
          <p:cNvSpPr txBox="1"/>
          <p:nvPr/>
        </p:nvSpPr>
        <p:spPr>
          <a:xfrm>
            <a:off x="8172994" y="2008936"/>
            <a:ext cx="32772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APAC Scale</a:t>
            </a:r>
            <a:endParaRPr lang="en-US" sz="1500" dirty="0"/>
          </a:p>
        </p:txBody>
      </p:sp>
      <p:sp>
        <p:nvSpPr>
          <p:cNvPr id="97" name="Text 76"/>
          <p:cNvSpPr txBox="1"/>
          <p:nvPr/>
        </p:nvSpPr>
        <p:spPr>
          <a:xfrm>
            <a:off x="8334843" y="2284171"/>
            <a:ext cx="31153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2027+ </a:t>
            </a:r>
            <a:endParaRPr lang="en-US" sz="1000" dirty="0"/>
          </a:p>
        </p:txBody>
      </p:sp>
      <p:pic>
        <p:nvPicPr>
          <p:cNvPr id="98" name="Image 19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8172994" y="2324404"/>
            <a:ext cx="105156" cy="114300"/>
          </a:xfrm>
          <a:prstGeom prst="rect">
            <a:avLst/>
          </a:prstGeom>
        </p:spPr>
      </p:pic>
      <p:sp>
        <p:nvSpPr>
          <p:cNvPr id="99" name="Shape 77"/>
          <p:cNvSpPr/>
          <p:nvPr/>
        </p:nvSpPr>
        <p:spPr>
          <a:xfrm>
            <a:off x="8172994" y="2802636"/>
            <a:ext cx="171907" cy="171907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0" name="Image 20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211399" y="2841040"/>
            <a:ext cx="95098" cy="95098"/>
          </a:xfrm>
          <a:prstGeom prst="rect">
            <a:avLst/>
          </a:prstGeom>
        </p:spPr>
      </p:pic>
      <p:sp>
        <p:nvSpPr>
          <p:cNvPr id="101" name="Text 78"/>
          <p:cNvSpPr txBox="1"/>
          <p:nvPr/>
        </p:nvSpPr>
        <p:spPr>
          <a:xfrm>
            <a:off x="8172994" y="2974543"/>
            <a:ext cx="32772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Regional Entry</a:t>
            </a:r>
            <a:endParaRPr lang="en-US" sz="1000" dirty="0"/>
          </a:p>
        </p:txBody>
      </p:sp>
      <p:sp>
        <p:nvSpPr>
          <p:cNvPr id="102" name="Text 79"/>
          <p:cNvSpPr txBox="1"/>
          <p:nvPr/>
        </p:nvSpPr>
        <p:spPr>
          <a:xfrm>
            <a:off x="8172994" y="3199485"/>
            <a:ext cx="3238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Japan, South Korea, Philippines expansion with localized support.</a:t>
            </a:r>
            <a:endParaRPr lang="en-US" sz="900" dirty="0"/>
          </a:p>
        </p:txBody>
      </p:sp>
      <p:sp>
        <p:nvSpPr>
          <p:cNvPr id="103" name="Shape 80"/>
          <p:cNvSpPr/>
          <p:nvPr/>
        </p:nvSpPr>
        <p:spPr>
          <a:xfrm>
            <a:off x="8172994" y="3667658"/>
            <a:ext cx="171907" cy="171907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4" name="Image 21" descr="preencoded.png"/>
          <p:cNvPicPr>
            <a:picLocks noChangeAspect="1"/>
          </p:cNvPicPr>
          <p:nvPr/>
        </p:nvPicPr>
        <p:blipFill>
          <a:blip r:embed="rId18"/>
          <a:srcRect l="-3419" r="-3419"/>
          <a:stretch/>
        </p:blipFill>
        <p:spPr>
          <a:xfrm>
            <a:off x="8201341" y="3706063"/>
            <a:ext cx="114300" cy="95098"/>
          </a:xfrm>
          <a:prstGeom prst="rect">
            <a:avLst/>
          </a:prstGeom>
        </p:spPr>
      </p:pic>
      <p:sp>
        <p:nvSpPr>
          <p:cNvPr id="105" name="Text 81"/>
          <p:cNvSpPr txBox="1"/>
          <p:nvPr/>
        </p:nvSpPr>
        <p:spPr>
          <a:xfrm>
            <a:off x="8172994" y="3838651"/>
            <a:ext cx="32772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Major Series</a:t>
            </a:r>
            <a:endParaRPr lang="en-US" sz="1000" dirty="0"/>
          </a:p>
        </p:txBody>
      </p:sp>
      <p:sp>
        <p:nvSpPr>
          <p:cNvPr id="106" name="Text 82"/>
          <p:cNvSpPr txBox="1"/>
          <p:nvPr/>
        </p:nvSpPr>
        <p:spPr>
          <a:xfrm>
            <a:off x="8264347" y="4716475"/>
            <a:ext cx="35433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Official partnerships with WPT &amp; WSOP Asia events.</a:t>
            </a:r>
            <a:endParaRPr lang="en-US" sz="900" dirty="0"/>
          </a:p>
        </p:txBody>
      </p:sp>
      <p:sp>
        <p:nvSpPr>
          <p:cNvPr id="107" name="Shape 83"/>
          <p:cNvSpPr/>
          <p:nvPr/>
        </p:nvSpPr>
        <p:spPr>
          <a:xfrm>
            <a:off x="8172994" y="4383633"/>
            <a:ext cx="171907" cy="171907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8" name="Image 22" descr="preencoded.png"/>
          <p:cNvPicPr>
            <a:picLocks noChangeAspect="1"/>
          </p:cNvPicPr>
          <p:nvPr/>
        </p:nvPicPr>
        <p:blipFill>
          <a:blip r:embed="rId19"/>
          <a:srcRect l="-3205" r="-3205"/>
          <a:stretch/>
        </p:blipFill>
        <p:spPr>
          <a:xfrm>
            <a:off x="8220543" y="4422038"/>
            <a:ext cx="75895" cy="95098"/>
          </a:xfrm>
          <a:prstGeom prst="rect">
            <a:avLst/>
          </a:prstGeom>
        </p:spPr>
      </p:pic>
      <p:sp>
        <p:nvSpPr>
          <p:cNvPr id="109" name="Text 84"/>
          <p:cNvSpPr txBox="1"/>
          <p:nvPr/>
        </p:nvSpPr>
        <p:spPr>
          <a:xfrm>
            <a:off x="8172994" y="4555540"/>
            <a:ext cx="32772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Native Mobile Apps</a:t>
            </a:r>
            <a:endParaRPr lang="en-US" sz="1000" dirty="0"/>
          </a:p>
        </p:txBody>
      </p:sp>
      <p:sp>
        <p:nvSpPr>
          <p:cNvPr id="110" name="Text 85"/>
          <p:cNvSpPr txBox="1"/>
          <p:nvPr/>
        </p:nvSpPr>
        <p:spPr>
          <a:xfrm>
            <a:off x="8264347" y="5433365"/>
            <a:ext cx="37517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Dedicated iOS/Android apps + Organizer API integration.</a:t>
            </a:r>
            <a:endParaRPr lang="en-US" sz="900" dirty="0"/>
          </a:p>
        </p:txBody>
      </p:sp>
      <p:sp>
        <p:nvSpPr>
          <p:cNvPr id="111" name="Shape 86"/>
          <p:cNvSpPr/>
          <p:nvPr/>
        </p:nvSpPr>
        <p:spPr>
          <a:xfrm>
            <a:off x="8172994" y="5992063"/>
            <a:ext cx="3161995" cy="657454"/>
          </a:xfrm>
          <a:prstGeom prst="roundRect">
            <a:avLst>
              <a:gd name="adj" fmla="val 24188"/>
            </a:avLst>
          </a:prstGeom>
          <a:solidFill>
            <a:srgbClr val="000000">
              <a:alpha val="3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2" name="Text 87"/>
          <p:cNvSpPr txBox="1"/>
          <p:nvPr/>
        </p:nvSpPr>
        <p:spPr>
          <a:xfrm>
            <a:off x="8664027" y="6115507"/>
            <a:ext cx="64648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10,000</a:t>
            </a:r>
            <a:endParaRPr lang="en-US" sz="1300" dirty="0"/>
          </a:p>
        </p:txBody>
      </p:sp>
      <p:sp>
        <p:nvSpPr>
          <p:cNvPr id="113" name="Text 88"/>
          <p:cNvSpPr txBox="1"/>
          <p:nvPr/>
        </p:nvSpPr>
        <p:spPr>
          <a:xfrm>
            <a:off x="8602762" y="6386169"/>
            <a:ext cx="7626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6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Target Users</a:t>
            </a:r>
            <a:endParaRPr lang="en-US" sz="800" dirty="0"/>
          </a:p>
        </p:txBody>
      </p:sp>
      <p:pic>
        <p:nvPicPr>
          <p:cNvPr id="114" name="Image 23" descr="preencoded.png"/>
          <p:cNvPicPr>
            <a:picLocks noChangeAspect="1"/>
          </p:cNvPicPr>
          <p:nvPr/>
        </p:nvPicPr>
        <p:blipFill>
          <a:blip r:embed="rId13"/>
          <a:srcRect t="-2089" b="-2089"/>
          <a:stretch/>
        </p:blipFill>
        <p:spPr>
          <a:xfrm>
            <a:off x="9746677" y="6115507"/>
            <a:ext cx="9144" cy="407822"/>
          </a:xfrm>
          <a:prstGeom prst="rect">
            <a:avLst/>
          </a:prstGeom>
        </p:spPr>
      </p:pic>
      <p:sp>
        <p:nvSpPr>
          <p:cNvPr id="115" name="Text 89"/>
          <p:cNvSpPr txBox="1"/>
          <p:nvPr/>
        </p:nvSpPr>
        <p:spPr>
          <a:xfrm>
            <a:off x="10200219" y="6115507"/>
            <a:ext cx="6382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$20M+</a:t>
            </a:r>
            <a:endParaRPr lang="en-US" sz="1300" dirty="0"/>
          </a:p>
        </p:txBody>
      </p:sp>
      <p:sp>
        <p:nvSpPr>
          <p:cNvPr id="116" name="Text 90"/>
          <p:cNvSpPr txBox="1"/>
          <p:nvPr/>
        </p:nvSpPr>
        <p:spPr>
          <a:xfrm>
            <a:off x="10199305" y="6386169"/>
            <a:ext cx="648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36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Target GTV</a:t>
            </a:r>
            <a:endParaRPr lang="en-US" sz="800" dirty="0"/>
          </a:p>
        </p:txBody>
      </p:sp>
      <p:sp>
        <p:nvSpPr>
          <p:cNvPr id="117" name="Text 91"/>
          <p:cNvSpPr txBox="1"/>
          <p:nvPr/>
        </p:nvSpPr>
        <p:spPr>
          <a:xfrm>
            <a:off x="8884310" y="381305"/>
            <a:ext cx="297911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FFFFFF">
                    <a:alpha val="2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BackerHub Investor Presentation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429207" y="1371600"/>
            <a:ext cx="5715000" cy="5715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05902" y="2095805"/>
            <a:ext cx="5715000" cy="57150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652199" y="6344107"/>
            <a:ext cx="238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2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14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761695" y="476402"/>
            <a:ext cx="107826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62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761695" y="758038"/>
            <a:ext cx="108585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Finance Meets Technology</a:t>
            </a:r>
            <a:endParaRPr lang="en-US" sz="3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rcRect l="-385" r="-385"/>
          <a:stretch/>
        </p:blipFill>
        <p:spPr>
          <a:xfrm>
            <a:off x="761695" y="1370686"/>
            <a:ext cx="761695" cy="28346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761695" y="1732788"/>
            <a:ext cx="4762195" cy="457200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3133649" y="1732788"/>
            <a:ext cx="571500" cy="28346"/>
          </a:xfrm>
          <a:prstGeom prst="roundRect">
            <a:avLst>
              <a:gd name="adj" fmla="val 3225852"/>
            </a:avLst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12700" dir="16200000" algn="bl" rotWithShape="0">
              <a:srgbClr val="D4AF37">
                <a:alpha val="30000"/>
              </a:srgbClr>
            </a:outerShdw>
          </a:effectLst>
        </p:spPr>
      </p:sp>
      <p:sp>
        <p:nvSpPr>
          <p:cNvPr id="12" name="Shape 6"/>
          <p:cNvSpPr/>
          <p:nvPr/>
        </p:nvSpPr>
        <p:spPr>
          <a:xfrm>
            <a:off x="2762402" y="2075688"/>
            <a:ext cx="761695" cy="323698"/>
          </a:xfrm>
          <a:prstGeom prst="roundRect">
            <a:avLst>
              <a:gd name="adj" fmla="val 282486"/>
            </a:avLst>
          </a:prstGeom>
          <a:solidFill>
            <a:srgbClr val="D4AF37">
              <a:alpha val="5000"/>
            </a:srgbClr>
          </a:solidFill>
          <a:ln w="12700">
            <a:solidFill>
              <a:srgbClr val="D4AF37">
                <a:alpha val="20000"/>
              </a:srgbClr>
            </a:solidFill>
            <a:prstDash val="solid"/>
          </a:ln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991002" y="2084832"/>
            <a:ext cx="304495" cy="304495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2619756" y="2589581"/>
            <a:ext cx="1047902" cy="247802"/>
          </a:xfrm>
          <a:prstGeom prst="roundRect">
            <a:avLst>
              <a:gd name="adj" fmla="val 36900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2591410" y="2589581"/>
            <a:ext cx="110551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kern="0" spc="9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Co-Founder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1771193" y="2884932"/>
            <a:ext cx="275143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Investment Banking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&amp; Audit</a:t>
            </a:r>
            <a:endParaRPr lang="en-US" sz="2100" dirty="0"/>
          </a:p>
        </p:txBody>
      </p:sp>
      <p:sp>
        <p:nvSpPr>
          <p:cNvPr id="17" name="Text 10"/>
          <p:cNvSpPr txBox="1"/>
          <p:nvPr/>
        </p:nvSpPr>
        <p:spPr>
          <a:xfrm>
            <a:off x="2160727" y="3590849"/>
            <a:ext cx="19723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Former Big Four Auditor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rcRect l="-44978" r="-44978"/>
          <a:stretch/>
        </p:blipFill>
        <p:spPr>
          <a:xfrm>
            <a:off x="1218895" y="4382719"/>
            <a:ext cx="190195" cy="13350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524305" y="4284878"/>
            <a:ext cx="19815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Financial Audit &amp; Compliance</a:t>
            </a:r>
            <a:endParaRPr lang="en-US" sz="10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rcRect l="-21233" r="-21233"/>
          <a:stretch/>
        </p:blipFill>
        <p:spPr>
          <a:xfrm>
            <a:off x="1218895" y="4856378"/>
            <a:ext cx="190195" cy="133502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524305" y="4757623"/>
            <a:ext cx="196138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Risk Management &amp; Controls</a:t>
            </a:r>
            <a:endParaRPr lang="en-US" sz="10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9"/>
          <a:srcRect l="-13318" r="-13318"/>
          <a:stretch/>
        </p:blipFill>
        <p:spPr>
          <a:xfrm>
            <a:off x="1218895" y="5330038"/>
            <a:ext cx="190195" cy="133502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1524305" y="5231282"/>
            <a:ext cx="17830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Escrow Fund Architecture</a:t>
            </a:r>
            <a:endParaRPr lang="en-US" sz="10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0"/>
          <a:srcRect l="-6986" r="-6986"/>
          <a:stretch/>
        </p:blipFill>
        <p:spPr>
          <a:xfrm>
            <a:off x="1218895" y="5803697"/>
            <a:ext cx="190195" cy="133502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1524305" y="5704942"/>
            <a:ext cx="162488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Regulatory Frameworks</a:t>
            </a:r>
            <a:endParaRPr lang="en-US" sz="10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1"/>
          <a:srcRect t="-2083" b="-2083"/>
          <a:stretch/>
        </p:blipFill>
        <p:spPr>
          <a:xfrm>
            <a:off x="6090818" y="2647188"/>
            <a:ext cx="9144" cy="2743200"/>
          </a:xfrm>
          <a:prstGeom prst="rect">
            <a:avLst/>
          </a:prstGeom>
        </p:spPr>
      </p:pic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6667805" y="1732788"/>
            <a:ext cx="4762195" cy="4572000"/>
          </a:xfrm>
          <a:prstGeom prst="rect">
            <a:avLst/>
          </a:prstGeom>
        </p:spPr>
      </p:pic>
      <p:sp>
        <p:nvSpPr>
          <p:cNvPr id="28" name="Shape 15"/>
          <p:cNvSpPr/>
          <p:nvPr/>
        </p:nvSpPr>
        <p:spPr>
          <a:xfrm>
            <a:off x="9038844" y="1732788"/>
            <a:ext cx="571500" cy="28346"/>
          </a:xfrm>
          <a:prstGeom prst="roundRect">
            <a:avLst>
              <a:gd name="adj" fmla="val 3225852"/>
            </a:avLst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12700" dir="16200000" algn="bl" rotWithShape="0">
              <a:srgbClr val="D4AF37">
                <a:alpha val="30000"/>
              </a:srgbClr>
            </a:outerShdw>
          </a:effectLst>
        </p:spPr>
      </p:sp>
      <p:sp>
        <p:nvSpPr>
          <p:cNvPr id="29" name="Shape 16"/>
          <p:cNvSpPr/>
          <p:nvPr/>
        </p:nvSpPr>
        <p:spPr>
          <a:xfrm>
            <a:off x="8667598" y="2075688"/>
            <a:ext cx="761695" cy="323698"/>
          </a:xfrm>
          <a:prstGeom prst="roundRect">
            <a:avLst>
              <a:gd name="adj" fmla="val 282486"/>
            </a:avLst>
          </a:prstGeom>
          <a:solidFill>
            <a:srgbClr val="D4AF37">
              <a:alpha val="5000"/>
            </a:srgbClr>
          </a:solidFill>
          <a:ln w="12700">
            <a:solidFill>
              <a:srgbClr val="D4AF37">
                <a:alpha val="20000"/>
              </a:srgbClr>
            </a:solidFill>
            <a:prstDash val="solid"/>
          </a:ln>
        </p:spPr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896198" y="2084832"/>
            <a:ext cx="304495" cy="304495"/>
          </a:xfrm>
          <a:prstGeom prst="rect">
            <a:avLst/>
          </a:prstGeom>
        </p:spPr>
      </p:pic>
      <p:sp>
        <p:nvSpPr>
          <p:cNvPr id="31" name="Shape 17"/>
          <p:cNvSpPr/>
          <p:nvPr/>
        </p:nvSpPr>
        <p:spPr>
          <a:xfrm>
            <a:off x="8525866" y="2589581"/>
            <a:ext cx="1047902" cy="247802"/>
          </a:xfrm>
          <a:prstGeom prst="roundRect">
            <a:avLst>
              <a:gd name="adj" fmla="val 36900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18"/>
          <p:cNvSpPr/>
          <p:nvPr/>
        </p:nvSpPr>
        <p:spPr>
          <a:xfrm>
            <a:off x="8496605" y="2589581"/>
            <a:ext cx="110551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900" kern="0" spc="9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Co-Founder</a:t>
            </a:r>
            <a:endParaRPr lang="en-US" sz="900" dirty="0"/>
          </a:p>
        </p:txBody>
      </p:sp>
      <p:sp>
        <p:nvSpPr>
          <p:cNvPr id="33" name="Text 19"/>
          <p:cNvSpPr txBox="1"/>
          <p:nvPr/>
        </p:nvSpPr>
        <p:spPr>
          <a:xfrm>
            <a:off x="7885786" y="2884932"/>
            <a:ext cx="232806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Engineering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&amp; Quant Systems</a:t>
            </a:r>
            <a:endParaRPr lang="en-US" sz="2100" dirty="0"/>
          </a:p>
        </p:txBody>
      </p:sp>
      <p:sp>
        <p:nvSpPr>
          <p:cNvPr id="34" name="Text 20"/>
          <p:cNvSpPr txBox="1"/>
          <p:nvPr/>
        </p:nvSpPr>
        <p:spPr>
          <a:xfrm>
            <a:off x="8014716" y="3590849"/>
            <a:ext cx="20711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Former Hedge Fund AI Engineer</a:t>
            </a:r>
            <a:endParaRPr lang="en-US" sz="1100" dirty="0"/>
          </a:p>
        </p:txBody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13"/>
          <a:srcRect l="-6986" r="-6986"/>
          <a:stretch/>
        </p:blipFill>
        <p:spPr>
          <a:xfrm>
            <a:off x="7125005" y="4382719"/>
            <a:ext cx="190195" cy="133502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7429500" y="4284878"/>
            <a:ext cx="20098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ML &amp; AI Systems Architecture</a:t>
            </a:r>
            <a:endParaRPr lang="en-US" sz="1000" dirty="0"/>
          </a:p>
        </p:txBody>
      </p:sp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14"/>
          <a:srcRect l="-21233" r="-21233"/>
          <a:stretch/>
        </p:blipFill>
        <p:spPr>
          <a:xfrm>
            <a:off x="7125005" y="4856378"/>
            <a:ext cx="190195" cy="133502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7429500" y="4757623"/>
            <a:ext cx="22485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Quantitative Analysis &amp; Modeling</a:t>
            </a:r>
            <a:endParaRPr lang="en-US" sz="1000" dirty="0"/>
          </a:p>
        </p:txBody>
      </p:sp>
      <p:pic>
        <p:nvPicPr>
          <p:cNvPr id="39" name="Image 14" descr="preencoded.png"/>
          <p:cNvPicPr>
            <a:picLocks noChangeAspect="1"/>
          </p:cNvPicPr>
          <p:nvPr/>
        </p:nvPicPr>
        <p:blipFill>
          <a:blip r:embed="rId15"/>
          <a:srcRect l="-31409" r="-31409"/>
          <a:stretch/>
        </p:blipFill>
        <p:spPr>
          <a:xfrm>
            <a:off x="7125005" y="5330038"/>
            <a:ext cx="190195" cy="133502"/>
          </a:xfrm>
          <a:prstGeom prst="rect">
            <a:avLst/>
          </a:prstGeom>
        </p:spPr>
      </p:pic>
      <p:sp>
        <p:nvSpPr>
          <p:cNvPr id="40" name="Text 23"/>
          <p:cNvSpPr txBox="1"/>
          <p:nvPr/>
        </p:nvSpPr>
        <p:spPr>
          <a:xfrm>
            <a:off x="7429500" y="5231282"/>
            <a:ext cx="19815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Algorithm Design &amp; Analytics</a:t>
            </a:r>
            <a:endParaRPr lang="en-US" sz="1000" dirty="0"/>
          </a:p>
        </p:txBody>
      </p:sp>
      <p:pic>
        <p:nvPicPr>
          <p:cNvPr id="41" name="Image 15" descr="preencoded.png"/>
          <p:cNvPicPr>
            <a:picLocks noChangeAspect="1"/>
          </p:cNvPicPr>
          <p:nvPr/>
        </p:nvPicPr>
        <p:blipFill>
          <a:blip r:embed="rId16"/>
          <a:srcRect l="-13318" r="-13318"/>
          <a:stretch/>
        </p:blipFill>
        <p:spPr>
          <a:xfrm>
            <a:off x="7125005" y="5803697"/>
            <a:ext cx="190195" cy="133502"/>
          </a:xfrm>
          <a:prstGeom prst="rect">
            <a:avLst/>
          </a:prstGeom>
        </p:spPr>
      </p:pic>
      <p:sp>
        <p:nvSpPr>
          <p:cNvPr id="42" name="Text 24"/>
          <p:cNvSpPr txBox="1"/>
          <p:nvPr/>
        </p:nvSpPr>
        <p:spPr>
          <a:xfrm>
            <a:off x="7429500" y="5704942"/>
            <a:ext cx="21625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Full-Stack Platform Engineering</a:t>
            </a:r>
            <a:endParaRPr lang="en-US" sz="1000" dirty="0"/>
          </a:p>
        </p:txBody>
      </p:sp>
      <p:pic>
        <p:nvPicPr>
          <p:cNvPr id="43" name="Image 16" descr="preencoded.png"/>
          <p:cNvPicPr>
            <a:picLocks noChangeAspect="1"/>
          </p:cNvPicPr>
          <p:nvPr/>
        </p:nvPicPr>
        <p:blipFill>
          <a:blip r:embed="rId17"/>
          <a:srcRect l="-2083" r="-2083"/>
          <a:stretch/>
        </p:blipFill>
        <p:spPr>
          <a:xfrm>
            <a:off x="5524805" y="4018788"/>
            <a:ext cx="1143000" cy="9144"/>
          </a:xfrm>
          <a:prstGeom prst="rect">
            <a:avLst/>
          </a:prstGeom>
        </p:spPr>
      </p:pic>
      <p:sp>
        <p:nvSpPr>
          <p:cNvPr id="44" name="Shape 25"/>
          <p:cNvSpPr/>
          <p:nvPr/>
        </p:nvSpPr>
        <p:spPr>
          <a:xfrm>
            <a:off x="5835701" y="3709721"/>
            <a:ext cx="523951" cy="619049"/>
          </a:xfrm>
          <a:prstGeom prst="roundRect">
            <a:avLst>
              <a:gd name="adj" fmla="val 174520"/>
            </a:avLst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26"/>
          <p:cNvSpPr/>
          <p:nvPr/>
        </p:nvSpPr>
        <p:spPr>
          <a:xfrm>
            <a:off x="5806440" y="3709721"/>
            <a:ext cx="581558" cy="6199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</a:t>
            </a:r>
            <a:endParaRPr lang="en-US" sz="4200" dirty="0"/>
          </a:p>
        </p:txBody>
      </p:sp>
      <p:sp>
        <p:nvSpPr>
          <p:cNvPr id="46" name="Text 27"/>
          <p:cNvSpPr txBox="1"/>
          <p:nvPr/>
        </p:nvSpPr>
        <p:spPr>
          <a:xfrm>
            <a:off x="8262518" y="476402"/>
            <a:ext cx="31747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96" dirty="0">
                <a:solidFill>
                  <a:srgbClr val="FFFFFF">
                    <a:alpha val="3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BackerHub Investor Presentation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4038905" y="-1143000"/>
            <a:ext cx="5715000" cy="238109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7" b="-7"/>
          <a:stretch/>
        </p:blipFill>
        <p:spPr>
          <a:xfrm>
            <a:off x="-476402" y="4000500"/>
            <a:ext cx="4762195" cy="381030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655857" y="6344107"/>
            <a:ext cx="238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2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761695" y="183795"/>
            <a:ext cx="107826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62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Financial Projections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761695" y="465431"/>
            <a:ext cx="108585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Path to Profitability</a:t>
            </a:r>
            <a:endParaRPr lang="en-US" sz="3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385" r="-385"/>
          <a:stretch/>
        </p:blipFill>
        <p:spPr>
          <a:xfrm>
            <a:off x="761695" y="1078079"/>
            <a:ext cx="761695" cy="28346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64438" y="1309422"/>
            <a:ext cx="5391302" cy="4200754"/>
          </a:xfrm>
          <a:prstGeom prst="roundRect">
            <a:avLst>
              <a:gd name="adj" fmla="val 1185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480467"/>
              </p:ext>
            </p:extLst>
          </p:nvPr>
        </p:nvGraphicFramePr>
        <p:xfrm>
          <a:off x="964692" y="1508761"/>
          <a:ext cx="4986222" cy="3802206"/>
        </p:xfrm>
        <a:graphic>
          <a:graphicData uri="http://schemas.openxmlformats.org/drawingml/2006/table">
            <a:tbl>
              <a:tblPr/>
              <a:tblGrid>
                <a:gridCol w="2203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5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38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30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b="1" dirty="0">
                          <a:solidFill>
                            <a:srgbClr val="D4AF37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METRIC</a:t>
                      </a:r>
                      <a:endParaRPr lang="en-US" sz="102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42646" marR="142646" marT="142646" marB="14264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20" b="1" dirty="0">
                          <a:solidFill>
                            <a:srgbClr val="88888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YEAR 1</a:t>
                      </a:r>
                      <a:endParaRPr lang="en-US" sz="102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42646" marR="142646" marT="142646" marB="14264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20" b="1" dirty="0">
                          <a:solidFill>
                            <a:srgbClr val="88888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YEAR 2</a:t>
                      </a:r>
                      <a:endParaRPr lang="en-US" sz="102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42646" marR="142646" marT="142646" marB="14264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20" b="1" dirty="0">
                          <a:solidFill>
                            <a:srgbClr val="88888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YEAR 3</a:t>
                      </a:r>
                      <a:endParaRPr lang="en-US" sz="102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42646" marR="142646" marT="142646" marB="142646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0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GTV (Gross Transaction)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42646" marR="142646" marT="152705" marB="15270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8F8F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$2.0M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42646" marR="142646" marT="152705" marB="15270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8F8F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$12.0M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42646" marR="142646" marT="152705" marB="15270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8F8F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$45.0M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42646" marR="142646" marT="152705" marB="15270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0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Active Users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42646" marR="142646" marT="152705" marB="15270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8F8F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2,000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42646" marR="142646" marT="152705" marB="15270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8F8F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8,000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42646" marR="142646" marT="152705" marB="15270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8F8F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25,000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42646" marR="142646" marT="152705" marB="15270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0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Listings Created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42646" marR="142646" marT="152705" marB="15270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8F8F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200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42646" marR="142646" marT="152705" marB="15270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8F8F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1,200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42646" marR="142646" marT="152705" marB="15270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8F8F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4,500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42646" marR="142646" marT="152705" marB="15270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0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Net Revenue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42646" marR="142646" marT="152705" marB="15270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8F8F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$40K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42646" marR="142646" marT="152705" marB="15270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8F8F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$360K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42646" marR="142646" marT="152705" marB="15270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8F8F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$1.35M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42646" marR="142646" marT="152705" marB="15270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0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CCCCC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Operating Costs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42646" marR="142646" marT="152705" marB="15270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8F8F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$180K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42646" marR="142646" marT="152705" marB="15270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8F8F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$400K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42646" marR="142646" marT="152705" marB="15270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F8F8F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$650K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42646" marR="142646" marT="152705" marB="15270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30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0" b="1" dirty="0">
                          <a:solidFill>
                            <a:srgbClr val="D4AF37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Net Income</a:t>
                      </a:r>
                      <a:endParaRPr lang="en-US" sz="132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42646" marR="142646" marT="190195" marB="15270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20" b="1" dirty="0">
                          <a:solidFill>
                            <a:srgbClr val="F8F8F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-$140K</a:t>
                      </a:r>
                      <a:endParaRPr lang="en-US" sz="132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42646" marR="142646" marT="190195" marB="15270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20" b="1" dirty="0">
                          <a:solidFill>
                            <a:srgbClr val="F8F8F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-$40K</a:t>
                      </a:r>
                      <a:endParaRPr lang="en-US" sz="132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42646" marR="142646" marT="190195" marB="15270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20" b="1" dirty="0">
                          <a:solidFill>
                            <a:srgbClr val="F8F8F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+$700K</a:t>
                      </a:r>
                      <a:endParaRPr lang="en-US" sz="132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142646" marR="142646" marT="190195" marB="15270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l="-26" r="-26"/>
          <a:stretch/>
        </p:blipFill>
        <p:spPr>
          <a:xfrm>
            <a:off x="764438" y="5698542"/>
            <a:ext cx="5385816" cy="921715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936345" y="5841188"/>
            <a:ext cx="51919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Assumptions</a:t>
            </a:r>
            <a:endParaRPr lang="en-US" sz="900" dirty="0"/>
          </a:p>
        </p:txBody>
      </p:sp>
      <p:sp>
        <p:nvSpPr>
          <p:cNvPr id="14" name="Shape 7"/>
          <p:cNvSpPr/>
          <p:nvPr/>
        </p:nvSpPr>
        <p:spPr>
          <a:xfrm>
            <a:off x="936345" y="6254497"/>
            <a:ext cx="57607" cy="57607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1068019" y="6088991"/>
            <a:ext cx="193212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2% Platform Fee (post-launch)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9874" y="6254497"/>
            <a:ext cx="57607" cy="57607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3241548" y="6088991"/>
            <a:ext cx="1526134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Avg Listing: $10K Buy-in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4892040" y="6254497"/>
            <a:ext cx="57607" cy="57607"/>
          </a:xfrm>
          <a:prstGeom prst="ellipse">
            <a:avLst/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5024628" y="6088991"/>
            <a:ext cx="104790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50% Action Sold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6531559" y="1309422"/>
            <a:ext cx="4905756" cy="5315407"/>
          </a:xfrm>
          <a:prstGeom prst="roundRect">
            <a:avLst>
              <a:gd name="adj" fmla="val 869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778447" y="1557224"/>
            <a:ext cx="290230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Revenue vs. Net Income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9291218" y="1659637"/>
            <a:ext cx="114300" cy="114300"/>
          </a:xfrm>
          <a:prstGeom prst="roundRect">
            <a:avLst>
              <a:gd name="adj" fmla="val 266667"/>
            </a:avLst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9462211" y="1625804"/>
            <a:ext cx="83484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Net Revenue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10345521" y="1659637"/>
            <a:ext cx="114300" cy="114300"/>
          </a:xfrm>
          <a:prstGeom prst="roundRect">
            <a:avLst>
              <a:gd name="adj" fmla="val 266667"/>
            </a:avLst>
          </a:prstGeom>
          <a:solidFill>
            <a:srgbClr val="F8F8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10517429" y="1625804"/>
            <a:ext cx="7589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Net Income</a:t>
            </a:r>
            <a:endParaRPr lang="en-US" sz="9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 l="-113" r="-113"/>
          <a:stretch/>
        </p:blipFill>
        <p:spPr>
          <a:xfrm>
            <a:off x="6778447" y="2067460"/>
            <a:ext cx="4410151" cy="4304995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8113471" y="3846882"/>
            <a:ext cx="1742846" cy="323698"/>
          </a:xfrm>
          <a:prstGeom prst="roundRect">
            <a:avLst>
              <a:gd name="adj" fmla="val 282486"/>
            </a:avLst>
          </a:prstGeom>
          <a:solidFill>
            <a:srgbClr val="D4AF37">
              <a:alpha val="15000"/>
            </a:srgbClr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236915" y="3942894"/>
            <a:ext cx="123444" cy="123444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8417966" y="3846882"/>
            <a:ext cx="13716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Break-even mid-Year 2</a:t>
            </a:r>
            <a:endParaRPr lang="en-US" sz="900" dirty="0"/>
          </a:p>
        </p:txBody>
      </p:sp>
      <p:sp>
        <p:nvSpPr>
          <p:cNvPr id="30" name="Text 21"/>
          <p:cNvSpPr txBox="1"/>
          <p:nvPr/>
        </p:nvSpPr>
        <p:spPr>
          <a:xfrm>
            <a:off x="8262518" y="523951"/>
            <a:ext cx="31747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96" dirty="0">
                <a:solidFill>
                  <a:srgbClr val="FFFFFF">
                    <a:alpha val="2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BackerHub Investor Presentation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2286000" y="1047902"/>
            <a:ext cx="7619695" cy="476219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401" b="-401"/>
          <a:stretch/>
        </p:blipFill>
        <p:spPr>
          <a:xfrm>
            <a:off x="0" y="0"/>
            <a:ext cx="12191695" cy="1920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824021" y="1047902"/>
            <a:ext cx="4553712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-216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Backer</a:t>
            </a:r>
            <a:r>
              <a:rPr lang="en-US" sz="5400" b="1" kern="0" spc="-216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Hub</a:t>
            </a:r>
            <a:endParaRPr lang="en-US" sz="5400" dirty="0"/>
          </a:p>
        </p:txBody>
      </p:sp>
      <p:sp>
        <p:nvSpPr>
          <p:cNvPr id="7" name="Shape 3"/>
          <p:cNvSpPr/>
          <p:nvPr/>
        </p:nvSpPr>
        <p:spPr>
          <a:xfrm>
            <a:off x="6001207" y="2851099"/>
            <a:ext cx="9144" cy="169529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695298" y="2851099"/>
            <a:ext cx="39246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kern="0" spc="132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Seeking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1619402" y="3150108"/>
            <a:ext cx="4000500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kern="0" spc="-198" dirty="0">
                <a:solidFill>
                  <a:srgbClr val="D4AF3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$500K</a:t>
            </a:r>
            <a:endParaRPr lang="en-US" sz="6600" dirty="0"/>
          </a:p>
        </p:txBody>
      </p:sp>
      <p:sp>
        <p:nvSpPr>
          <p:cNvPr id="10" name="Text 6"/>
          <p:cNvSpPr txBox="1"/>
          <p:nvPr/>
        </p:nvSpPr>
        <p:spPr>
          <a:xfrm>
            <a:off x="1695298" y="4083710"/>
            <a:ext cx="39246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8958377" y="2924251"/>
            <a:ext cx="114300" cy="114300"/>
          </a:xfrm>
          <a:prstGeom prst="roundRect">
            <a:avLst>
              <a:gd name="adj" fmla="val 266667"/>
            </a:avLst>
          </a:prstGeom>
          <a:solidFill>
            <a:srgbClr val="D4AF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167774" y="2764231"/>
            <a:ext cx="12765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40%</a:t>
            </a:r>
            <a:r>
              <a:rPr lang="en-US" sz="11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Engineering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958377" y="3472891"/>
            <a:ext cx="114300" cy="114300"/>
          </a:xfrm>
          <a:prstGeom prst="roundRect">
            <a:avLst>
              <a:gd name="adj" fmla="val 266667"/>
            </a:avLst>
          </a:prstGeom>
          <a:solidFill>
            <a:srgbClr val="F8F8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167774" y="3312871"/>
            <a:ext cx="12765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25%</a:t>
            </a:r>
            <a:r>
              <a:rPr lang="en-US" sz="11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Business Dev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958377" y="3912718"/>
            <a:ext cx="114300" cy="114300"/>
          </a:xfrm>
          <a:prstGeom prst="roundRect">
            <a:avLst>
              <a:gd name="adj" fmla="val 266667"/>
            </a:avLst>
          </a:prstGeom>
          <a:solidFill>
            <a:srgbClr val="8888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167774" y="3861511"/>
            <a:ext cx="12006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20%</a:t>
            </a:r>
            <a:r>
              <a:rPr lang="en-US" sz="11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Marketing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958377" y="4352544"/>
            <a:ext cx="114300" cy="114300"/>
          </a:xfrm>
          <a:prstGeom prst="roundRect">
            <a:avLst>
              <a:gd name="adj" fmla="val 266667"/>
            </a:avLst>
          </a:prstGeom>
          <a:solidFill>
            <a:srgbClr val="333333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167774" y="4192524"/>
            <a:ext cx="12765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15%</a:t>
            </a:r>
            <a:r>
              <a:rPr lang="en-US" sz="11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Ops &amp; Legal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3861511" y="1897380"/>
            <a:ext cx="44769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288" dirty="0">
                <a:solidFill>
                  <a:srgbClr val="AAAA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 Players. Share Victories.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3632911" y="2034540"/>
            <a:ext cx="381305" cy="9144"/>
          </a:xfrm>
          <a:prstGeom prst="rect">
            <a:avLst/>
          </a:prstGeom>
          <a:solidFill>
            <a:srgbClr val="D4AF37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177479" y="2034540"/>
            <a:ext cx="381305" cy="9144"/>
          </a:xfrm>
          <a:prstGeom prst="rect">
            <a:avLst/>
          </a:prstGeom>
          <a:solidFill>
            <a:srgbClr val="D4AF37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77279" y="2648102"/>
            <a:ext cx="2095805" cy="209580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538874" y="3458261"/>
            <a:ext cx="21717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</a:t>
            </a:r>
            <a:endParaRPr lang="en-US" sz="9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Funds</a:t>
            </a:r>
            <a:endParaRPr lang="en-US" sz="9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151937" y="5829300"/>
            <a:ext cx="152705" cy="15270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3399739" y="5790895"/>
            <a:ext cx="19961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support@backerhub.com</a:t>
            </a:r>
            <a:endParaRPr lang="en-US" sz="12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 t="-100" b="-100"/>
          <a:stretch/>
        </p:blipFill>
        <p:spPr>
          <a:xfrm>
            <a:off x="5665622" y="5829300"/>
            <a:ext cx="114300" cy="15270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875020" y="5790895"/>
            <a:ext cx="11905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CCCC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Taipei, Taiwan</a:t>
            </a:r>
            <a:endParaRPr lang="en-US" sz="12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254850" y="5829300"/>
            <a:ext cx="152705" cy="152705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502652" y="5790895"/>
            <a:ext cx="20071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8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www.backerhubasia.vercel.app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5576926" y="6305702"/>
            <a:ext cx="11164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80" dirty="0">
                <a:solidFill>
                  <a:srgbClr val="44444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31" name="Text 23"/>
          <p:cNvSpPr txBox="1"/>
          <p:nvPr/>
        </p:nvSpPr>
        <p:spPr>
          <a:xfrm>
            <a:off x="9020556" y="286207"/>
            <a:ext cx="33147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4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BackerHub Investor Presentation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1679</Words>
  <Application>Microsoft Office PowerPoint</Application>
  <PresentationFormat>宽屏</PresentationFormat>
  <Paragraphs>471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Space Grotesk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Cyrus Lee</cp:lastModifiedBy>
  <cp:revision>2</cp:revision>
  <dcterms:created xsi:type="dcterms:W3CDTF">2026-03-18T06:59:28Z</dcterms:created>
  <dcterms:modified xsi:type="dcterms:W3CDTF">2026-03-18T07:24:05Z</dcterms:modified>
</cp:coreProperties>
</file>