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D0D6DE"/>
                </a:solidFill>
                <a:latin typeface="Segoe UI Light"/>
              </a:defRPr>
            </a:pPr>
            <a:r>
              <a:rPr sz="1100" b="0" i="0" u="none" strike="noStrike">
                <a:solidFill>
                  <a:srgbClr val="D0D6DE"/>
                </a:solidFill>
                <a:latin typeface="Segoe UI Light"/>
              </a:rPr>
              <a:t>Gross Transaction Value ($M)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GTV ($M)</c:v>
                </c:pt>
              </c:strCache>
            </c:strRef>
          </c:tx>
          <c:spPr>
            <a:solidFill>
              <a:srgbClr val="F5B8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B8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12</c:v>
                </c:pt>
                <c:pt idx="2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5B8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0A8B4"/>
                </a:solidFill>
                <a:latin typeface="Segoe UI Ligh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5283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0A8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161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86200" y="128016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B81C"/>
          </a:solidFill>
          <a:ln/>
        </p:spPr>
      </p:sp>
      <p:sp>
        <p:nvSpPr>
          <p:cNvPr id="3" name="Text 1"/>
          <p:cNvSpPr/>
          <p:nvPr/>
        </p:nvSpPr>
        <p:spPr>
          <a:xfrm>
            <a:off x="38862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B0D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26280" y="12801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</a:t>
            </a:r>
            <a:pPr indent="0" marL="0">
              <a:buNone/>
            </a:pPr>
            <a:r>
              <a:rPr lang="en-US" sz="3400" b="1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Hub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B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 Players. Share Victories.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Asia's #1 Player Backing Platform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Investor Presentation  ·  March 2026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5B81C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0B0D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Poker Staking is Broken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13161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527048"/>
            <a:ext cx="457200" cy="45720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160020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6304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Fragmented &amp; Informal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1755648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Most staking deals happen on forums, WhatsApp groups, and handshake agreements. No escrow, no verification, no recourse.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2221992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13161D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404872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26771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Western-Centric Platforms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463040" y="2560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StakeKings, PokerStake, and YouStake serve US/EU markets. No local Asian payments, no Chinese language, no regional focus.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40080" y="3026664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13161D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3136392"/>
            <a:ext cx="457200" cy="45720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320954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07238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Zero Trust Infrastructure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463040" y="3364992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No identity verification, no result validation, no reliability scoring. Players can disappear with backers' money.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831336"/>
            <a:ext cx="7863840" cy="713232"/>
          </a:xfrm>
          <a:prstGeom prst="roundRect">
            <a:avLst>
              <a:gd name="adj" fmla="val 10256"/>
            </a:avLst>
          </a:prstGeom>
          <a:solidFill>
            <a:srgbClr val="13161D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3941064"/>
            <a:ext cx="457200" cy="45720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" y="4014216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87705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Opaque Fee Structures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1463040" y="4169664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Hidden commissions ranging 1-10%. No transparent cost breakdowns. Backers don't know what they're really paying.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BackHub: Trust-First Player Backing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The first poker player sponsorship marketplace built for Asia — with escrow protection, admin verification, and local payment methods.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3161D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488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Escrow-Protected Funds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08760" y="2331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 money is never sent directly to players. Held in escrow until admin-verified milestones.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54880" y="187452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3161D"/>
          </a:solidFill>
          <a:ln/>
        </p:spPr>
      </p:sp>
      <p:sp>
        <p:nvSpPr>
          <p:cNvPr id="11" name="Shape 8"/>
          <p:cNvSpPr/>
          <p:nvPr/>
        </p:nvSpPr>
        <p:spPr>
          <a:xfrm>
            <a:off x="4937760" y="2057400"/>
            <a:ext cx="502920" cy="50292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14884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2356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Identity Verified Players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623560" y="233172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All players pass KYC. Performance tracked with reliability scores and settlement history.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40080" y="32918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3161D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6616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3429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Multi-Step Verification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508760" y="3749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Registration proof, result validation, and prize deposit confirmation — all admin-verified.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54880" y="3291840"/>
            <a:ext cx="3749040" cy="1234440"/>
          </a:xfrm>
          <a:prstGeom prst="roundRect">
            <a:avLst>
              <a:gd name="adj" fmla="val 5926"/>
            </a:avLst>
          </a:prstGeom>
          <a:solidFill>
            <a:srgbClr val="13161D"/>
          </a:solidFill>
          <a:ln/>
        </p:spPr>
      </p:sp>
      <p:sp>
        <p:nvSpPr>
          <p:cNvPr id="21" name="Shape 16"/>
          <p:cNvSpPr/>
          <p:nvPr/>
        </p:nvSpPr>
        <p:spPr>
          <a:xfrm>
            <a:off x="4937760" y="3474720"/>
            <a:ext cx="502920" cy="50292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6616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23560" y="34290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Built for Asia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5623560" y="3749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ECPay, LINE Pay, JKoPay, AlipayHK, FPS. English + Traditional Chinese. Local tournaments.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$11.4B Market with No Asia Leader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316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447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$11.4B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Global Online Poker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Market by 2030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37160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3161D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4447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C4951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29000" y="16642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$2.3B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42900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Asia-Pacific Poker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Tournament Economy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371600"/>
            <a:ext cx="2514600" cy="1645920"/>
          </a:xfrm>
          <a:prstGeom prst="roundRect">
            <a:avLst>
              <a:gd name="adj" fmla="val 4444"/>
            </a:avLst>
          </a:prstGeom>
          <a:solidFill>
            <a:srgbClr val="13161D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444752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FFD9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17920" y="16642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$115M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17920" y="21945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Addressable Staking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Market (Asia, Year 5)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Market Indicators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6118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3161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13.7%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0080" y="3995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Online Poker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CAGR to 2030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697480" y="36118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3161D"/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$481M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2697480" y="3995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WSOP 2025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Prize Money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6118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3161D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$34M+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754880" y="3995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APT Taipei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Nov 2025 Prizes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12280" y="361188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13161D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363931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28,000+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12280" y="399592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APT Championship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2025 Entries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NOW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Tailwinds Converge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1508760"/>
            <a:ext cx="594360" cy="59436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8488" y="161848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Legal Clarity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4871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Supreme Court (Feb 2025)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Taiwan confirmed poker tournaments as "mind sport" — not gambling. CTP Club is #1 venue globally with 302,505 registered players.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13716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11" name="Shape 8"/>
          <p:cNvSpPr/>
          <p:nvPr/>
        </p:nvSpPr>
        <p:spPr>
          <a:xfrm>
            <a:off x="4297680" y="1508760"/>
            <a:ext cx="594360" cy="59436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408" y="1618488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Tournament Boom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566160" y="24871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$54M+ prizes in Taipei (2025)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3611880" y="2788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APT Taipei: 22,909 entries, $20M prizes. APT Championship: 28,000+ entries, $34M+ prizes. 40%+ YoY growth.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371600"/>
            <a:ext cx="2514600" cy="288036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17" name="Shape 13"/>
          <p:cNvSpPr/>
          <p:nvPr/>
        </p:nvSpPr>
        <p:spPr>
          <a:xfrm>
            <a:off x="7086600" y="1508760"/>
            <a:ext cx="594360" cy="59436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618488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221284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Explosion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55080" y="248716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$112.5B fintech market (2025)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400800" y="2788920"/>
            <a:ext cx="2148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LINE Pay: 13.1M users, $25B volume. Government targeting 8B non-cash transactions by 2026. 80%+ mobile adoption.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Steps to Start Backing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B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1508760" y="2103120"/>
            <a:ext cx="640080" cy="6400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632" y="2221992"/>
            <a:ext cx="402336" cy="4023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Browse Players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Explore verified poker players with detailed performance stats, ROI history, and reliability scores. Filter by tournament, buy-in, and region.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13716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11" name="Text 8"/>
          <p:cNvSpPr/>
          <p:nvPr/>
        </p:nvSpPr>
        <p:spPr>
          <a:xfrm>
            <a:off x="342900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B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Shape 9"/>
          <p:cNvSpPr/>
          <p:nvPr/>
        </p:nvSpPr>
        <p:spPr>
          <a:xfrm>
            <a:off x="4297680" y="2103120"/>
            <a:ext cx="640080" cy="6400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2221992"/>
            <a:ext cx="402336" cy="40233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6616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 a Player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61188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Purchase a percentage of a player's tournament action. Transparent cost breakdowns: base cost + markup + platform fee. Funds held in escrow.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217920" y="1371600"/>
            <a:ext cx="2514600" cy="320040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17" name="Text 13"/>
          <p:cNvSpPr/>
          <p:nvPr/>
        </p:nvSpPr>
        <p:spPr>
          <a:xfrm>
            <a:off x="6217920" y="15087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B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03</a:t>
            </a:r>
            <a:endParaRPr lang="en-US" sz="3200" dirty="0"/>
          </a:p>
        </p:txBody>
      </p:sp>
      <p:sp>
        <p:nvSpPr>
          <p:cNvPr id="18" name="Shape 14"/>
          <p:cNvSpPr/>
          <p:nvPr/>
        </p:nvSpPr>
        <p:spPr>
          <a:xfrm>
            <a:off x="7086600" y="2103120"/>
            <a:ext cx="640080" cy="6400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5472" y="2221992"/>
            <a:ext cx="402336" cy="40233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Win Together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400800" y="320040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When the player cashes, winnings are verified against official records and distributed proportionally to all backers automatically.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32004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598932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2200" dirty="0"/>
          </a:p>
        </p:txBody>
      </p:sp>
      <p:sp>
        <p:nvSpPr>
          <p:cNvPr id="24" name="Shape 19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Institutional-Grade Risk Management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3161D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00200"/>
            <a:ext cx="411480" cy="4114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673352"/>
            <a:ext cx="265176" cy="2651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Escrow Protection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22960" y="2103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Funds never go directly to players. All money held in escrow until milestones verified.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29000" y="14173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3161D"/>
          </a:solidFill>
          <a:ln/>
        </p:spPr>
      </p:sp>
      <p:sp>
        <p:nvSpPr>
          <p:cNvPr id="10" name="Shape 7"/>
          <p:cNvSpPr/>
          <p:nvPr/>
        </p:nvSpPr>
        <p:spPr>
          <a:xfrm>
            <a:off x="3611880" y="1600200"/>
            <a:ext cx="411480" cy="4114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673352"/>
            <a:ext cx="265176" cy="2651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6052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KYC Verified Players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11880" y="2103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Identity verified with tracked stats, ROI history, and cash rates.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14173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3161D"/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1600200"/>
            <a:ext cx="411480" cy="4114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1673352"/>
            <a:ext cx="265176" cy="2651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49440" y="1600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Admin Verification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400800" y="2103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Registration, results, and deposits all verified against official records.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3017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3161D"/>
          </a:solidFill>
          <a:ln/>
        </p:spPr>
      </p:sp>
      <p:sp>
        <p:nvSpPr>
          <p:cNvPr id="20" name="Shape 15"/>
          <p:cNvSpPr/>
          <p:nvPr/>
        </p:nvSpPr>
        <p:spPr>
          <a:xfrm>
            <a:off x="822960" y="3200400"/>
            <a:ext cx="411480" cy="4114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3273552"/>
            <a:ext cx="265176" cy="2651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Enforced Deadlines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2296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48h registration, 3-day results, 14-day deposit. Missed = admin review.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429000" y="3017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3161D"/>
          </a:solidFill>
          <a:ln/>
        </p:spPr>
      </p:sp>
      <p:sp>
        <p:nvSpPr>
          <p:cNvPr id="25" name="Shape 19"/>
          <p:cNvSpPr/>
          <p:nvPr/>
        </p:nvSpPr>
        <p:spPr>
          <a:xfrm>
            <a:off x="3611880" y="3200400"/>
            <a:ext cx="411480" cy="4114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5032" y="3273552"/>
            <a:ext cx="265176" cy="26517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160520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Reliability Scoring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61188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Player scores based on on-time settlements vs defaults. Public and transparent.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301752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13161D"/>
          </a:solidFill>
          <a:ln/>
        </p:spPr>
      </p:sp>
      <p:sp>
        <p:nvSpPr>
          <p:cNvPr id="30" name="Shape 23"/>
          <p:cNvSpPr/>
          <p:nvPr/>
        </p:nvSpPr>
        <p:spPr>
          <a:xfrm>
            <a:off x="6400800" y="3200400"/>
            <a:ext cx="411480" cy="411480"/>
          </a:xfrm>
          <a:prstGeom prst="ellipse">
            <a:avLst/>
          </a:prstGeom>
          <a:solidFill>
            <a:srgbClr val="191D26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273552"/>
            <a:ext cx="265176" cy="26517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49440" y="32004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Withdrawal Lock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400800" y="37033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Players can't withdraw during pending prize deposits. Prevents post-win escape.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Simple, Scalable Revenue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1316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Revenue Streams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2%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54480" y="1965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Platform Fee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22128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On every backer transaction (0% pre-launch)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5877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1-3%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58775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Payment Processing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54480" y="283464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Pass-through from ECPay, LINE Pay, etc.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2095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TBD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32095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Premium Listings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345643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Featured placement, priority in marketplace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38313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TBD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83133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Data &amp; Analytics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0782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Advanced player insights for backers (Pro tier)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417320"/>
            <a:ext cx="3749040" cy="3200400"/>
          </a:xfrm>
          <a:prstGeom prst="roundRect">
            <a:avLst>
              <a:gd name="adj" fmla="val 2286"/>
            </a:avLst>
          </a:prstGeom>
          <a:solidFill>
            <a:srgbClr val="13161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150876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Unit Economics Example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937760" y="196596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Listing: $10,000 Buy-in Tournament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233172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Action Sold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3317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= $5,000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2724912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Markup (1.15x)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724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$750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20640" y="3118104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Platform Fee (2%)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311810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$115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3511296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Backer Total Cost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0" y="35112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$5,865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120640" y="3867912"/>
            <a:ext cx="3108960" cy="0"/>
          </a:xfrm>
          <a:prstGeom prst="line">
            <a:avLst/>
          </a:prstGeom>
          <a:noFill/>
          <a:ln w="10160">
            <a:solidFill>
              <a:srgbClr val="F5B81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20640" y="3904488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BackHub Revenue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39044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$115 per listing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No Asia-Focused Competitor Exists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554480"/>
                <a:gridCol w="1554480"/>
                <a:gridCol w="1554480"/>
                <a:gridCol w="16459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B0D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Feature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B0D1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BackHub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B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StakeKings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PokerStake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GGPoker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Asia Focus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Partial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Local Payments (TW/HK)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Chinese Language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Escrow Protection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Live Tournament Support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Identity Verification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Limited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Reliability Scoring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Admin Verification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Platform Fee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1-10%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Undisclosed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0%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Crypto Support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✓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✗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TRACTION &amp; MILESTONES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Building Momentum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1316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Pre-Launch Status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70078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✓  Full platform built (Next.js + Supabase)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194767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✓  Complete staking lifecycle implemented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✓  Bilingual (EN + zh-TW) with i18n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24414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✓  7 payment integrations configured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688336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✓  Player directory with 13+ verified players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293522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✓  0% fee pre-launch campaign live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280160"/>
            <a:ext cx="3749040" cy="2057400"/>
          </a:xfrm>
          <a:prstGeom prst="roundRect">
            <a:avLst>
              <a:gd name="adj" fmla="val 3556"/>
            </a:avLst>
          </a:prstGeom>
          <a:solidFill>
            <a:srgbClr val="13161D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13533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2026 Roadmap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83480" y="17373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Platform launch, CTP partnership, seed users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3480" y="213055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0" y="21305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First APT event coverage, 500 users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83480" y="2523744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0" y="25237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Hong Kong expansion, crypto payments live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83480" y="2916936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0" y="291693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2,000+ users, premium features, Series A prep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566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Targets (Year 1)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88620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13161D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044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2,000+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" y="4206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Registered Users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0" y="388620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13161D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0" y="39044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$2M+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2743200" y="4206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GTV (Gross Transaction)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88620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13161D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9044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200+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846320" y="4206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Listings Created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49440" y="3886200"/>
            <a:ext cx="1874520" cy="594360"/>
          </a:xfrm>
          <a:prstGeom prst="roundRect">
            <a:avLst>
              <a:gd name="adj" fmla="val 12308"/>
            </a:avLst>
          </a:prstGeom>
          <a:solidFill>
            <a:srgbClr val="13161D"/>
          </a:solidFill>
          <a:ln/>
        </p:spPr>
      </p:sp>
      <p:sp>
        <p:nvSpPr>
          <p:cNvPr id="33" name="Text 31"/>
          <p:cNvSpPr/>
          <p:nvPr/>
        </p:nvSpPr>
        <p:spPr>
          <a:xfrm>
            <a:off x="6949440" y="3904488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85%+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6949440" y="420624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Settlement Rate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GO-TO-MARKET STRATEGY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Land, Expand, Dominate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Q1–Q2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Taiwan Launch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88720" y="2176272"/>
            <a:ext cx="14173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CTP Club partnership (302K players)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APT Taipei event sponsorship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0% fee pre-launch acquisition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ECPay + LINE Pay + JKoPay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Target: 500 users, $500K GTV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28016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3716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29000" y="16002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Q3–Q4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29000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Hong Kong Expansion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77640" y="2176272"/>
            <a:ext cx="14173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AlipayHK, PayMe, FPS, Octopus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Macau tournament coverage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Cross-border staking support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Crypto payments (BTC/ETH/USDT)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Target: 2,000 users, $2M GTV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1280160"/>
            <a:ext cx="2514600" cy="3063240"/>
          </a:xfrm>
          <a:prstGeom prst="roundRect">
            <a:avLst>
              <a:gd name="adj" fmla="val 2909"/>
            </a:avLst>
          </a:prstGeom>
          <a:solidFill>
            <a:srgbClr val="13161D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371600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17920" y="16002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2027+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17920" y="181051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Asia-Pacific Scale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766560" y="2176272"/>
            <a:ext cx="14173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267712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Japan, South Korea, Philippines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WPT &amp; WSOP Asia events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API for tournament organizers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Mobile app (iOS + Android)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Target: 10,000 users, $20M GTV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Finance Meets Technology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749040" cy="3246120"/>
          </a:xfrm>
          <a:prstGeom prst="roundRect">
            <a:avLst>
              <a:gd name="adj" fmla="val 2254"/>
            </a:avLst>
          </a:prstGeom>
          <a:solidFill>
            <a:srgbClr val="13161D"/>
          </a:solidFill>
          <a:ln/>
        </p:spPr>
      </p:sp>
      <p:sp>
        <p:nvSpPr>
          <p:cNvPr id="5" name="Shape 3"/>
          <p:cNvSpPr/>
          <p:nvPr/>
        </p:nvSpPr>
        <p:spPr>
          <a:xfrm>
            <a:off x="2057400" y="1554480"/>
            <a:ext cx="777240" cy="777240"/>
          </a:xfrm>
          <a:prstGeom prst="ellipse">
            <a:avLst/>
          </a:prstGeom>
          <a:solidFill>
            <a:srgbClr val="191D26"/>
          </a:solidFill>
          <a:ln/>
        </p:spPr>
      </p:sp>
      <p:sp>
        <p:nvSpPr>
          <p:cNvPr id="6" name="Text 4"/>
          <p:cNvSpPr/>
          <p:nvPr/>
        </p:nvSpPr>
        <p:spPr>
          <a:xfrm>
            <a:off x="205740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B81C"/>
                </a:solidFill>
              </a:rPr>
              <a:t>♠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Co-Founder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Investment Banking &amp; Audit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Former Big Four auditor with deep expertise in: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Financial Audit &amp; Compliance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Risk Management &amp; Controls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Escrow Fund Design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Regulatory Compliance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1371600"/>
            <a:ext cx="3749040" cy="3246120"/>
          </a:xfrm>
          <a:prstGeom prst="roundRect">
            <a:avLst>
              <a:gd name="adj" fmla="val 2254"/>
            </a:avLst>
          </a:prstGeom>
          <a:solidFill>
            <a:srgbClr val="13161D"/>
          </a:solidFill>
          <a:ln/>
        </p:spPr>
      </p:sp>
      <p:sp>
        <p:nvSpPr>
          <p:cNvPr id="11" name="Shape 9"/>
          <p:cNvSpPr/>
          <p:nvPr/>
        </p:nvSpPr>
        <p:spPr>
          <a:xfrm>
            <a:off x="6172200" y="1554480"/>
            <a:ext cx="777240" cy="777240"/>
          </a:xfrm>
          <a:prstGeom prst="ellipse">
            <a:avLst/>
          </a:prstGeom>
          <a:solidFill>
            <a:srgbClr val="191D26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5544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B81C"/>
                </a:solidFill>
              </a:rPr>
              <a:t>♣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37760" y="2468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Co-Founder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937760" y="274320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Engineering &amp; Quant Systems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Former AI engineer at a quant hedge fund: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ML &amp; AI Systems Architecture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Quantitative Analysis &amp; Modeling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Algorithm Design &amp; Analytics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D0D6DE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Full-Stack Platform Engineering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5B81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PROJECTIONS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Path to Profitability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234440"/>
          <a:ext cx="3840480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754880" y="1234440"/>
            <a:ext cx="3749040" cy="2331720"/>
          </a:xfrm>
          <a:prstGeom prst="roundRect">
            <a:avLst>
              <a:gd name="adj" fmla="val 3137"/>
            </a:avLst>
          </a:prstGeom>
          <a:solidFill>
            <a:srgbClr val="13161D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0" y="12984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3-Year Forecast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92040" y="1664208"/>
          <a:ext cx="347472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804672"/>
                <a:gridCol w="804672"/>
                <a:gridCol w="905256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1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2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 3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1D26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GTV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$2M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$12M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$45M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Users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2,000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8,000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25,000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Listings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1,200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4,500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Revenue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$360K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$1.35M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 Light" pitchFamily="34" charset="0"/>
                          <a:ea typeface="Segoe UI Light" pitchFamily="34" charset="-122"/>
                          <a:cs typeface="Segoe UI Light" pitchFamily="34" charset="-120"/>
                        </a:rPr>
                        <a:t>Costs</a:t>
                      </a:r>
                      <a:endParaRPr lang="en-US" sz="1000" dirty="0">
                        <a:latin typeface="Segoe UI Light" charset="0"/>
                        <a:ea typeface="Segoe UI Light" charset="0"/>
                        <a:cs typeface="Segoe UI Light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$180K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$400K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6DE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$650K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 Semibold" pitchFamily="34" charset="0"/>
                          <a:ea typeface="Segoe UI Semibold" pitchFamily="34" charset="-122"/>
                          <a:cs typeface="Segoe UI Semibold" pitchFamily="34" charset="-120"/>
                        </a:rPr>
                        <a:t>Net</a:t>
                      </a:r>
                      <a:endParaRPr lang="en-US" sz="1000" dirty="0">
                        <a:latin typeface="Segoe UI Semibold" charset="0"/>
                        <a:ea typeface="Segoe UI Semibold" charset="0"/>
                        <a:cs typeface="Segoe UI Semibold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-$140K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-$40K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B81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$700K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528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61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3749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Assumptions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40080" y="39502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2% platform fee (post-launch)  ·  Avg listing: $10K buy-in  ·  50% action sold  ·  1-3% payment margin  ·  Break-even by Year 2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48640" y="4864608"/>
            <a:ext cx="804672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BackHub  |  Investor Presentation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D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48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B81C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Back Players. Share Victories.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Seed Round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$500K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1371600" y="2331720"/>
            <a:ext cx="6400800" cy="1508760"/>
          </a:xfrm>
          <a:prstGeom prst="roundRect">
            <a:avLst>
              <a:gd name="adj" fmla="val 4848"/>
            </a:avLst>
          </a:prstGeom>
          <a:solidFill>
            <a:srgbClr val="13161D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3774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 of Funds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00200" y="2724912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91D26"/>
          </a:solidFill>
          <a:ln/>
        </p:spPr>
      </p:sp>
      <p:sp>
        <p:nvSpPr>
          <p:cNvPr id="8" name="Shape 6"/>
          <p:cNvSpPr/>
          <p:nvPr/>
        </p:nvSpPr>
        <p:spPr>
          <a:xfrm>
            <a:off x="1600200" y="2724912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F5B81C"/>
          </a:solidFill>
          <a:ln/>
        </p:spPr>
      </p:sp>
      <p:sp>
        <p:nvSpPr>
          <p:cNvPr id="9" name="Text 7"/>
          <p:cNvSpPr/>
          <p:nvPr/>
        </p:nvSpPr>
        <p:spPr>
          <a:xfrm>
            <a:off x="2514600" y="27157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17520" y="2715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Engineering &amp; Product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92040" y="27157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Mobile app, API integrations, data feeds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600200" y="2980944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91D26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0200" y="2980944"/>
            <a:ext cx="514350" cy="146304"/>
          </a:xfrm>
          <a:prstGeom prst="roundRect">
            <a:avLst>
              <a:gd name="adj" fmla="val 18750"/>
            </a:avLst>
          </a:prstGeom>
          <a:solidFill>
            <a:srgbClr val="F5B81C"/>
          </a:solidFill>
          <a:ln/>
        </p:spPr>
      </p:sp>
      <p:sp>
        <p:nvSpPr>
          <p:cNvPr id="14" name="Text 12"/>
          <p:cNvSpPr/>
          <p:nvPr/>
        </p:nvSpPr>
        <p:spPr>
          <a:xfrm>
            <a:off x="2514600" y="2971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25%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17520" y="2971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Business Development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29718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CTP partnership, sponsorships, acquisition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00200" y="3236976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91D26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3236976"/>
            <a:ext cx="411480" cy="146304"/>
          </a:xfrm>
          <a:prstGeom prst="roundRect">
            <a:avLst>
              <a:gd name="adj" fmla="val 18750"/>
            </a:avLst>
          </a:prstGeom>
          <a:solidFill>
            <a:srgbClr val="F5B81C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3227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17520" y="3227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Marketing &amp; Growth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32278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Community, content, event presence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00200" y="3493008"/>
            <a:ext cx="822960" cy="146304"/>
          </a:xfrm>
          <a:prstGeom prst="roundRect">
            <a:avLst>
              <a:gd name="adj" fmla="val 18750"/>
            </a:avLst>
          </a:prstGeom>
          <a:solidFill>
            <a:srgbClr val="191D26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0200" y="3493008"/>
            <a:ext cx="308610" cy="146304"/>
          </a:xfrm>
          <a:prstGeom prst="roundRect">
            <a:avLst>
              <a:gd name="adj" fmla="val 18750"/>
            </a:avLst>
          </a:prstGeom>
          <a:solidFill>
            <a:srgbClr val="F5B81C"/>
          </a:solidFill>
          <a:ln/>
        </p:spPr>
      </p:sp>
      <p:sp>
        <p:nvSpPr>
          <p:cNvPr id="24" name="Text 22"/>
          <p:cNvSpPr/>
          <p:nvPr/>
        </p:nvSpPr>
        <p:spPr>
          <a:xfrm>
            <a:off x="2514600" y="348386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15%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17520" y="3483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Operations &amp; Legal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4838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0A8B4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Compliance, licensing, team expansion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0" y="4069080"/>
            <a:ext cx="2743200" cy="0"/>
          </a:xfrm>
          <a:prstGeom prst="line">
            <a:avLst/>
          </a:prstGeom>
          <a:noFill/>
          <a:ln w="6350">
            <a:solidFill>
              <a:srgbClr val="25283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94760" y="4206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B81C"/>
          </a:solidFill>
          <a:ln/>
        </p:spPr>
      </p:sp>
      <p:sp>
        <p:nvSpPr>
          <p:cNvPr id="29" name="Text 27"/>
          <p:cNvSpPr/>
          <p:nvPr/>
        </p:nvSpPr>
        <p:spPr>
          <a:xfrm>
            <a:off x="37947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B0D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♠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4297680" y="4206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</a:t>
            </a:r>
            <a:pPr indent="0" marL="0">
              <a:buNone/>
            </a:pPr>
            <a:r>
              <a:rPr lang="en-US" sz="1800" b="1" dirty="0">
                <a:solidFill>
                  <a:srgbClr val="F5B81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Hub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14400" y="46817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270"/>
                </a:solidFill>
                <a:latin typeface="Segoe UI Light" pitchFamily="34" charset="0"/>
                <a:ea typeface="Segoe UI Light" pitchFamily="34" charset="-122"/>
                <a:cs typeface="Segoe UI Light" pitchFamily="34" charset="-120"/>
              </a:rPr>
              <a:t>support@backhub.com  ·  Taipei, Taiwan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solidFill>
            <a:srgbClr val="F5B81C"/>
          </a:solidFill>
          <a:ln/>
        </p:spPr>
      </p:sp>
      <p:sp>
        <p:nvSpPr>
          <p:cNvPr id="33" name="Text 31"/>
          <p:cNvSpPr/>
          <p:nvPr/>
        </p:nvSpPr>
        <p:spPr>
          <a:xfrm>
            <a:off x="0" y="494233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0" kern="0" dirty="0">
                <a:solidFill>
                  <a:srgbClr val="0B0D1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BackHub - Investor Presentation 2026</dc:title>
  <dc:subject>PptxGenJS Presentation</dc:subject>
  <dc:creator>BackHub</dc:creator>
  <cp:lastModifiedBy>BackHub</cp:lastModifiedBy>
  <cp:revision>1</cp:revision>
  <dcterms:created xsi:type="dcterms:W3CDTF">2026-03-17T18:19:08Z</dcterms:created>
  <dcterms:modified xsi:type="dcterms:W3CDTF">2026-03-17T18:19:08Z</dcterms:modified>
</cp:coreProperties>
</file>